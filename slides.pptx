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4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Training rows with source present</c:v>
          </c:tx>
          <c:invertIfNegative val="1"/>
          <c:cat>
            <c:strLit>
              <c:ptCount val="7"/>
              <c:pt idx="0">
                <c:v>Market</c:v>
              </c:pt>
              <c:pt idx="1">
                <c:v>Team</c:v>
              </c:pt>
              <c:pt idx="2">
                <c:v>Regular</c:v>
              </c:pt>
              <c:pt idx="3">
                <c:v>Sign date</c:v>
              </c:pt>
              <c:pt idx="4">
                <c:v>Snap</c:v>
              </c:pt>
              <c:pt idx="5">
                <c:v>Combine</c:v>
              </c:pt>
              <c:pt idx="6">
                <c:v>Next Gen</c:v>
              </c:pt>
            </c:strLit>
          </c:cat>
          <c:val>
            <c:numLit>
              <c:formatCode>General</c:formatCode>
              <c:ptCount val="7"/>
              <c:pt idx="0">
                <c:v>100</c:v>
              </c:pt>
              <c:pt idx="1">
                <c:v>68.8</c:v>
              </c:pt>
              <c:pt idx="2">
                <c:v>65.8</c:v>
              </c:pt>
              <c:pt idx="3">
                <c:v>60.1</c:v>
              </c:pt>
              <c:pt idx="4">
                <c:v>51.3</c:v>
              </c:pt>
              <c:pt idx="5">
                <c:v>45.4</c:v>
              </c:pt>
              <c:pt idx="6">
                <c:v>15.8</c:v>
              </c:pt>
            </c:numLit>
          </c:val>
          <c:extLst>
            <c:ext xmlns:c16="http://schemas.microsoft.com/office/drawing/2014/chart" uri="{C3380CC4-5D6E-409C-BE32-E72D297353CC}">
              <c16:uniqueId val="{00000000-A6E6-074D-AFC2-20A706EF8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ver-image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cover-scrim">
            <a:extLst>
              <a:ext uri="{FF2B5EF4-FFF2-40B4-BE49-F238E27FC236}">
                <a16:creationId xmlns:a16="http://schemas.microsoft.com/office/drawing/2014/main" id="{F848AB9F-C1D6-4F58-B383-AB49668037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601200" cy="10287000"/>
          </a:xfrm>
          <a:prstGeom prst="rect">
            <a:avLst/>
          </a:prstGeom>
          <a:solidFill>
            <a:srgbClr val="07100D"/>
          </a:solidFill>
          <a:ln>
            <a:solidFill>
              <a:srgbClr val="0710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6BA6AA-3038-4360-A655-9E30CF63F702}"/>
              </a:ext>
            </a:extLst>
          </p:cNvPr>
          <p:cNvSpPr>
            <a:spLocks noGrp="1"/>
          </p:cNvSpPr>
          <p:nvPr/>
        </p:nvSpPr>
        <p:spPr>
          <a:xfrm>
            <a:off x="914400" y="1257300"/>
            <a:ext cx="4953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DAF4A"/>
                </a:solidFill>
              </a:defRPr>
            </a:pPr>
            <a:r>
              <a:rPr sz="1350" b="1">
                <a:solidFill>
                  <a:srgbClr val="DDAF4A"/>
                </a:solidFill>
              </a:rPr>
              <a:t>STA 336 STATISTICAL MACHINE LEARNING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F820A57C-F230-42F7-839C-A45132A98C07}"/>
              </a:ext>
            </a:extLst>
          </p:cNvPr>
          <p:cNvSpPr>
            <a:spLocks noGrp="1"/>
          </p:cNvSpPr>
          <p:nvPr/>
        </p:nvSpPr>
        <p:spPr>
          <a:xfrm>
            <a:off x="914400" y="1714500"/>
            <a:ext cx="8096250" cy="5314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700" b="1">
                <a:solidFill>
                  <a:srgbClr val="FFFFFF"/>
                </a:solidFill>
              </a:defRPr>
            </a:pPr>
            <a:r>
              <a:rPr sz="8700" b="1">
                <a:solidFill>
                  <a:srgbClr val="FFFFFF"/>
                </a:solidFill>
              </a:rPr>
              <a:t>NFL Wide Receiver</a:t>
            </a:r>
          </a:p>
          <a:p>
            <a:pPr>
              <a:defRPr sz="8700" b="1">
                <a:solidFill>
                  <a:srgbClr val="FFFFFF"/>
                </a:solidFill>
              </a:defRPr>
            </a:pPr>
            <a:r>
              <a:rPr sz="8700" b="1">
                <a:solidFill>
                  <a:srgbClr val="FFFFFF"/>
                </a:solidFill>
              </a:rPr>
              <a:t>Contract Projection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B8B24C-80F6-471B-9612-6DD7E1204B70}"/>
              </a:ext>
            </a:extLst>
          </p:cNvPr>
          <p:cNvSpPr>
            <a:spLocks noGrp="1"/>
          </p:cNvSpPr>
          <p:nvPr/>
        </p:nvSpPr>
        <p:spPr>
          <a:xfrm>
            <a:off x="914400" y="7258050"/>
            <a:ext cx="3429000" cy="47625"/>
          </a:xfrm>
          <a:prstGeom prst="rect">
            <a:avLst/>
          </a:prstGeom>
          <a:solidFill>
            <a:srgbClr val="DDAF4A"/>
          </a:solidFill>
          <a:ln w="0">
            <a:solidFill>
              <a:srgbClr val="DDA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B406DDBF-95AF-48EE-8700-C5551B25E17B}"/>
              </a:ext>
            </a:extLst>
          </p:cNvPr>
          <p:cNvSpPr>
            <a:spLocks noGrp="1"/>
          </p:cNvSpPr>
          <p:nvPr/>
        </p:nvSpPr>
        <p:spPr>
          <a:xfrm>
            <a:off x="914400" y="7562850"/>
            <a:ext cx="6953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D7E0D8"/>
                </a:solidFill>
              </a:defRPr>
            </a:pPr>
            <a:r>
              <a:rPr sz="2100" dirty="0">
                <a:solidFill>
                  <a:srgbClr val="D7E0D8"/>
                </a:solidFill>
              </a:rPr>
              <a:t>Rento Saijo | </a:t>
            </a:r>
            <a:r>
              <a:rPr lang="en-US" sz="2100" dirty="0">
                <a:solidFill>
                  <a:srgbClr val="D7E0D8"/>
                </a:solidFill>
              </a:rPr>
              <a:t>Atticus Roop | </a:t>
            </a:r>
            <a:r>
              <a:rPr lang="en-US" sz="2100" dirty="0" err="1">
                <a:solidFill>
                  <a:srgbClr val="D7E0D8"/>
                </a:solidFill>
              </a:rPr>
              <a:t>Manahil</a:t>
            </a:r>
            <a:r>
              <a:rPr lang="en-US" sz="2100" dirty="0">
                <a:solidFill>
                  <a:srgbClr val="D7E0D8"/>
                </a:solidFill>
              </a:rPr>
              <a:t> Shoaib</a:t>
            </a:r>
            <a:endParaRPr sz="2100" dirty="0">
              <a:solidFill>
                <a:srgbClr val="D7E0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784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ackground">
            <a:extLst>
              <a:ext uri="{FF2B5EF4-FFF2-40B4-BE49-F238E27FC236}">
                <a16:creationId xmlns:a16="http://schemas.microsoft.com/office/drawing/2014/main" id="{FB1B56C5-EDDF-478C-A66E-D55B429A1B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7"/>
          </a:solidFill>
          <a:ln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receiver-primer"/>
          <p:cNvPicPr>
            <a:picLocks noChangeAspect="1"/>
          </p:cNvPicPr>
          <p:nvPr/>
        </p:nvPicPr>
        <p:blipFill>
          <a:blip r:embed="rId3"/>
          <a:srcRect l="22902" r="22902"/>
          <a:stretch>
            <a:fillRect/>
          </a:stretch>
        </p:blipFill>
        <p:spPr>
          <a:xfrm>
            <a:off x="0" y="0"/>
            <a:ext cx="9906000" cy="10287000"/>
          </a:xfrm>
          <a:prstGeom prst="rect">
            <a:avLst/>
          </a:prstGeom>
        </p:spPr>
      </p:pic>
      <p:sp>
        <p:nvSpPr>
          <p:cNvPr id="3" name="right-paper">
            <a:extLst>
              <a:ext uri="{FF2B5EF4-FFF2-40B4-BE49-F238E27FC236}">
                <a16:creationId xmlns:a16="http://schemas.microsoft.com/office/drawing/2014/main" id="{68D893F9-F53F-4894-A7A2-5A9F0A82216F}"/>
              </a:ext>
            </a:extLst>
          </p:cNvPr>
          <p:cNvSpPr>
            <a:spLocks noGrp="1"/>
          </p:cNvSpPr>
          <p:nvPr/>
        </p:nvSpPr>
        <p:spPr>
          <a:xfrm>
            <a:off x="9448800" y="0"/>
            <a:ext cx="8839200" cy="10287000"/>
          </a:xfrm>
          <a:prstGeom prst="rect">
            <a:avLst/>
          </a:prstGeom>
          <a:solidFill>
            <a:srgbClr val="FFFDF7"/>
          </a:solidFill>
          <a:ln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21FDCE-85DB-4A54-AA0B-DC2DA62A7BDA}"/>
              </a:ext>
            </a:extLst>
          </p:cNvPr>
          <p:cNvSpPr>
            <a:spLocks noGrp="1"/>
          </p:cNvSpPr>
          <p:nvPr/>
        </p:nvSpPr>
        <p:spPr>
          <a:xfrm>
            <a:off x="10191750" y="1143000"/>
            <a:ext cx="4953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4C956C"/>
                </a:solidFill>
              </a:defRPr>
            </a:pPr>
            <a:r>
              <a:rPr sz="1350" b="1">
                <a:solidFill>
                  <a:srgbClr val="4C956C"/>
                </a:solidFill>
              </a:rPr>
              <a:t>BACKGROUND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8DF2A69D-B340-4487-8D02-0E1661068C0C}"/>
              </a:ext>
            </a:extLst>
          </p:cNvPr>
          <p:cNvSpPr>
            <a:spLocks noGrp="1"/>
          </p:cNvSpPr>
          <p:nvPr/>
        </p:nvSpPr>
        <p:spPr>
          <a:xfrm>
            <a:off x="10191750" y="1619250"/>
            <a:ext cx="7181850" cy="1657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13201D"/>
                </a:solidFill>
              </a:defRPr>
            </a:pPr>
            <a:r>
              <a:rPr sz="5400" b="1" dirty="0">
                <a:solidFill>
                  <a:srgbClr val="13201D"/>
                </a:solidFill>
              </a:rPr>
              <a:t>What is a wide</a:t>
            </a:r>
            <a:r>
              <a:rPr lang="en-US" sz="5400" b="1" dirty="0">
                <a:solidFill>
                  <a:srgbClr val="13201D"/>
                </a:solidFill>
              </a:rPr>
              <a:t> </a:t>
            </a:r>
            <a:r>
              <a:rPr sz="5400" b="1" dirty="0">
                <a:solidFill>
                  <a:srgbClr val="13201D"/>
                </a:solidFill>
              </a:rPr>
              <a:t>receiver?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EE2308-9C2C-4054-B9B0-EE8C5FAB50F8}"/>
              </a:ext>
            </a:extLst>
          </p:cNvPr>
          <p:cNvSpPr>
            <a:spLocks noGrp="1"/>
          </p:cNvSpPr>
          <p:nvPr/>
        </p:nvSpPr>
        <p:spPr>
          <a:xfrm>
            <a:off x="10191750" y="3524250"/>
            <a:ext cx="685800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13201D"/>
                </a:solidFill>
              </a:defRPr>
            </a:pPr>
            <a:r>
              <a:rPr sz="2250">
                <a:solidFill>
                  <a:srgbClr val="13201D"/>
                </a:solidFill>
              </a:rPr>
              <a:t>An offensive player whose primary job is to get open, catch passes, and turn targets into yards and touchdowns.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2F60CE-3862-4C15-9A62-E46A70CAFACF}"/>
              </a:ext>
            </a:extLst>
          </p:cNvPr>
          <p:cNvSpPr>
            <a:spLocks noGrp="1"/>
          </p:cNvSpPr>
          <p:nvPr/>
        </p:nvSpPr>
        <p:spPr>
          <a:xfrm>
            <a:off x="10191750" y="4819650"/>
            <a:ext cx="2476500" cy="38100"/>
          </a:xfrm>
          <a:prstGeom prst="rect">
            <a:avLst/>
          </a:prstGeom>
          <a:solidFill>
            <a:srgbClr val="DDAF4A"/>
          </a:solidFill>
          <a:ln w="0">
            <a:solidFill>
              <a:srgbClr val="DDA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5C8E5C-C4B3-4A25-99C2-D5D394AC592C}"/>
              </a:ext>
            </a:extLst>
          </p:cNvPr>
          <p:cNvSpPr>
            <a:spLocks noGrp="1"/>
          </p:cNvSpPr>
          <p:nvPr/>
        </p:nvSpPr>
        <p:spPr>
          <a:xfrm>
            <a:off x="10191750" y="5124450"/>
            <a:ext cx="3295650" cy="1066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900" b="1">
                <a:solidFill>
                  <a:srgbClr val="376996"/>
                </a:solidFill>
              </a:defRPr>
            </a:pPr>
            <a:r>
              <a:rPr sz="6900" b="1">
                <a:solidFill>
                  <a:srgbClr val="376996"/>
                </a:solidFill>
              </a:rPr>
              <a:t>Targets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9802D-DFE9-4D95-A22D-CD2C0EA9EC95}"/>
              </a:ext>
            </a:extLst>
          </p:cNvPr>
          <p:cNvSpPr>
            <a:spLocks noGrp="1"/>
          </p:cNvSpPr>
          <p:nvPr/>
        </p:nvSpPr>
        <p:spPr>
          <a:xfrm>
            <a:off x="10191750" y="6229350"/>
            <a:ext cx="3295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3201D"/>
                </a:solidFill>
              </a:defRPr>
            </a:pPr>
            <a:r>
              <a:rPr sz="1650" b="1">
                <a:solidFill>
                  <a:srgbClr val="13201D"/>
                </a:solidFill>
              </a:rPr>
              <a:t>How often the QB throws to him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11674-E3ED-4FE7-B129-48D3742614B9}"/>
              </a:ext>
            </a:extLst>
          </p:cNvPr>
          <p:cNvSpPr>
            <a:spLocks noGrp="1"/>
          </p:cNvSpPr>
          <p:nvPr/>
        </p:nvSpPr>
        <p:spPr>
          <a:xfrm>
            <a:off x="13773150" y="5124450"/>
            <a:ext cx="3295650" cy="1066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900" b="1">
                <a:solidFill>
                  <a:srgbClr val="4C956C"/>
                </a:solidFill>
              </a:defRPr>
            </a:pPr>
            <a:r>
              <a:rPr sz="6900" b="1">
                <a:solidFill>
                  <a:srgbClr val="4C956C"/>
                </a:solidFill>
              </a:rPr>
              <a:t>Yards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18F10A-030C-448D-8C4A-90C56853B488}"/>
              </a:ext>
            </a:extLst>
          </p:cNvPr>
          <p:cNvSpPr>
            <a:spLocks noGrp="1"/>
          </p:cNvSpPr>
          <p:nvPr/>
        </p:nvSpPr>
        <p:spPr>
          <a:xfrm>
            <a:off x="13773150" y="6229350"/>
            <a:ext cx="3295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3201D"/>
                </a:solidFill>
              </a:defRPr>
            </a:pPr>
            <a:r>
              <a:rPr sz="1650" b="1">
                <a:solidFill>
                  <a:srgbClr val="13201D"/>
                </a:solidFill>
              </a:rPr>
              <a:t>Field position created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9CE351-CB3A-466D-95AD-DEF8442A4B76}"/>
              </a:ext>
            </a:extLst>
          </p:cNvPr>
          <p:cNvSpPr>
            <a:spLocks noGrp="1"/>
          </p:cNvSpPr>
          <p:nvPr/>
        </p:nvSpPr>
        <p:spPr>
          <a:xfrm>
            <a:off x="10191750" y="6762750"/>
            <a:ext cx="685800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3716B"/>
                </a:solidFill>
              </a:defRPr>
            </a:pPr>
            <a:r>
              <a:rPr sz="1875">
                <a:solidFill>
                  <a:srgbClr val="63716B"/>
                </a:solidFill>
              </a:rPr>
              <a:t>Contracts price both production and expected future role. The hard part is separating a player's value from his team context and career stage.</a:t>
            </a:r>
          </a:p>
        </p:txBody>
      </p:sp>
    </p:spTree>
    <p:extLst>
      <p:ext uri="{BB962C8B-B14F-4D97-AF65-F5344CB8AC3E}">
        <p14:creationId xmlns:p14="http://schemas.microsoft.com/office/powerpoint/2010/main" val="1760571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ackground">
            <a:extLst>
              <a:ext uri="{FF2B5EF4-FFF2-40B4-BE49-F238E27FC236}">
                <a16:creationId xmlns:a16="http://schemas.microsoft.com/office/drawing/2014/main" id="{4CFC0F65-5130-401E-AF38-700A80174B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D87517-E08E-45BB-A535-1AC35999F1D9}"/>
              </a:ext>
            </a:extLst>
          </p:cNvPr>
          <p:cNvSpPr>
            <a:spLocks noGrp="1"/>
          </p:cNvSpPr>
          <p:nvPr/>
        </p:nvSpPr>
        <p:spPr>
          <a:xfrm>
            <a:off x="914400" y="742950"/>
            <a:ext cx="647700" cy="47625"/>
          </a:xfrm>
          <a:prstGeom prst="rect">
            <a:avLst/>
          </a:prstGeom>
          <a:solidFill>
            <a:srgbClr val="DDAF4A"/>
          </a:solidFill>
          <a:ln w="0">
            <a:solidFill>
              <a:srgbClr val="DDA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B4B15B-3A71-4411-943F-11DB321AAB1B}"/>
              </a:ext>
            </a:extLst>
          </p:cNvPr>
          <p:cNvSpPr>
            <a:spLocks noGrp="1"/>
          </p:cNvSpPr>
          <p:nvPr/>
        </p:nvSpPr>
        <p:spPr>
          <a:xfrm>
            <a:off x="1695450" y="666750"/>
            <a:ext cx="4953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DAF4A"/>
                </a:solidFill>
              </a:defRPr>
            </a:pPr>
            <a:r>
              <a:rPr sz="1350" b="1">
                <a:solidFill>
                  <a:srgbClr val="DDAF4A"/>
                </a:solidFill>
              </a:rPr>
              <a:t>BACKGROUND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A80C9FB7-B1DD-469A-A52C-8F58351D4958}"/>
              </a:ext>
            </a:extLst>
          </p:cNvPr>
          <p:cNvSpPr>
            <a:spLocks noGrp="1"/>
          </p:cNvSpPr>
          <p:nvPr/>
        </p:nvSpPr>
        <p:spPr>
          <a:xfrm>
            <a:off x="914400" y="1238250"/>
            <a:ext cx="14478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13201D"/>
                </a:solidFill>
              </a:defRPr>
            </a:pPr>
            <a:r>
              <a:rPr sz="4950" b="1">
                <a:solidFill>
                  <a:srgbClr val="13201D"/>
                </a:solidFill>
              </a:rPr>
              <a:t>A contract is really a menu of commitments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4BCEE9-A595-4B06-BF07-A96A469F1B00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11620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63716B"/>
                </a:solidFill>
              </a:defRPr>
            </a:pPr>
            <a:r>
              <a:rPr sz="2100">
                <a:solidFill>
                  <a:srgbClr val="63716B"/>
                </a:solidFill>
              </a:rPr>
              <a:t>The headline dollar amount hides three different decisions: length, yearly price, and risk sharing.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B3F3F-9B27-420F-8E4E-69B918BE8478}"/>
              </a:ext>
            </a:extLst>
          </p:cNvPr>
          <p:cNvSpPr>
            <a:spLocks noGrp="1"/>
          </p:cNvSpPr>
          <p:nvPr/>
        </p:nvSpPr>
        <p:spPr>
          <a:xfrm>
            <a:off x="1809750" y="5334000"/>
            <a:ext cx="14668500" cy="28575"/>
          </a:xfrm>
          <a:prstGeom prst="rect">
            <a:avLst/>
          </a:prstGeom>
          <a:solidFill>
            <a:srgbClr val="13201D"/>
          </a:solidFill>
          <a:ln w="0">
            <a:solidFill>
              <a:srgbClr val="1320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0259D6-AC79-434A-B908-EDB4D7B2C072}"/>
              </a:ext>
            </a:extLst>
          </p:cNvPr>
          <p:cNvSpPr>
            <a:spLocks noGrp="1"/>
          </p:cNvSpPr>
          <p:nvPr/>
        </p:nvSpPr>
        <p:spPr>
          <a:xfrm>
            <a:off x="2000250" y="3619500"/>
            <a:ext cx="3733800" cy="1790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700" b="1">
                <a:solidFill>
                  <a:srgbClr val="376996"/>
                </a:solidFill>
              </a:defRPr>
            </a:pPr>
            <a:r>
              <a:rPr sz="11700" b="1">
                <a:solidFill>
                  <a:srgbClr val="376996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BC5A0-B707-47F8-A59B-44F21CB1D5AB}"/>
              </a:ext>
            </a:extLst>
          </p:cNvPr>
          <p:cNvSpPr>
            <a:spLocks noGrp="1"/>
          </p:cNvSpPr>
          <p:nvPr/>
        </p:nvSpPr>
        <p:spPr>
          <a:xfrm>
            <a:off x="1905000" y="5734050"/>
            <a:ext cx="37338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650" b="1">
                <a:solidFill>
                  <a:srgbClr val="376996"/>
                </a:solidFill>
              </a:defRPr>
            </a:pPr>
            <a:r>
              <a:rPr sz="1650" b="1" dirty="0">
                <a:solidFill>
                  <a:srgbClr val="376996"/>
                </a:solidFill>
              </a:rPr>
              <a:t>YEARS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BFD718-4077-46FB-845E-C748489A163E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37338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250" b="1">
                <a:solidFill>
                  <a:srgbClr val="13201D"/>
                </a:solidFill>
              </a:defRPr>
            </a:pPr>
            <a:r>
              <a:rPr sz="2250" b="1" dirty="0">
                <a:solidFill>
                  <a:srgbClr val="13201D"/>
                </a:solidFill>
              </a:rPr>
              <a:t>Prove-it deal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71D540-B56E-495D-8104-AEE2A0A86CB1}"/>
              </a:ext>
            </a:extLst>
          </p:cNvPr>
          <p:cNvSpPr>
            <a:spLocks noGrp="1"/>
          </p:cNvSpPr>
          <p:nvPr/>
        </p:nvSpPr>
        <p:spPr>
          <a:xfrm>
            <a:off x="2000250" y="6229350"/>
            <a:ext cx="37338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75">
                <a:solidFill>
                  <a:srgbClr val="63716B"/>
                </a:solidFill>
              </a:defRPr>
            </a:pPr>
            <a:r>
              <a:rPr sz="1575">
                <a:solidFill>
                  <a:srgbClr val="63716B"/>
                </a:solidFill>
              </a:rPr>
              <a:t>Low commitment; player re-enters the market quickly.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802BD0A-FF73-4A9A-AD35-611B06AE027E}"/>
              </a:ext>
            </a:extLst>
          </p:cNvPr>
          <p:cNvSpPr>
            <a:spLocks noGrp="1"/>
          </p:cNvSpPr>
          <p:nvPr/>
        </p:nvSpPr>
        <p:spPr>
          <a:xfrm>
            <a:off x="3543300" y="5219700"/>
            <a:ext cx="457200" cy="457200"/>
          </a:xfrm>
          <a:prstGeom prst="ellipse">
            <a:avLst/>
          </a:prstGeom>
          <a:solidFill>
            <a:srgbClr val="376996"/>
          </a:solidFill>
          <a:ln>
            <a:solidFill>
              <a:srgbClr val="3769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1C0FBF-3FC4-4695-A50A-DD34341C74AB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3733800" cy="1790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700" b="1">
                <a:solidFill>
                  <a:srgbClr val="4C956C"/>
                </a:solidFill>
              </a:defRPr>
            </a:pPr>
            <a:r>
              <a:rPr sz="11700" b="1">
                <a:solidFill>
                  <a:srgbClr val="4C956C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D1663E-9739-462F-A0D0-34681D52A470}"/>
              </a:ext>
            </a:extLst>
          </p:cNvPr>
          <p:cNvSpPr>
            <a:spLocks noGrp="1"/>
          </p:cNvSpPr>
          <p:nvPr/>
        </p:nvSpPr>
        <p:spPr>
          <a:xfrm>
            <a:off x="7200900" y="5648325"/>
            <a:ext cx="37338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650" b="1">
                <a:solidFill>
                  <a:srgbClr val="4C956C"/>
                </a:solidFill>
              </a:defRPr>
            </a:pPr>
            <a:r>
              <a:rPr sz="1650" b="1" dirty="0">
                <a:solidFill>
                  <a:srgbClr val="4C956C"/>
                </a:solidFill>
              </a:rPr>
              <a:t>YEARS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8FEE20-6C25-482A-97B2-10C3220E5BED}"/>
              </a:ext>
            </a:extLst>
          </p:cNvPr>
          <p:cNvSpPr>
            <a:spLocks noGrp="1"/>
          </p:cNvSpPr>
          <p:nvPr/>
        </p:nvSpPr>
        <p:spPr>
          <a:xfrm>
            <a:off x="7239000" y="5810250"/>
            <a:ext cx="37338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250" b="1">
                <a:solidFill>
                  <a:srgbClr val="13201D"/>
                </a:solidFill>
              </a:defRPr>
            </a:pPr>
            <a:r>
              <a:rPr sz="2250" b="1">
                <a:solidFill>
                  <a:srgbClr val="13201D"/>
                </a:solidFill>
              </a:rPr>
              <a:t>Role-player deal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3E78A1-DA9A-4730-B60E-107C2CBAC2EE}"/>
              </a:ext>
            </a:extLst>
          </p:cNvPr>
          <p:cNvSpPr>
            <a:spLocks noGrp="1"/>
          </p:cNvSpPr>
          <p:nvPr/>
        </p:nvSpPr>
        <p:spPr>
          <a:xfrm>
            <a:off x="7239000" y="6229350"/>
            <a:ext cx="37338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75">
                <a:solidFill>
                  <a:srgbClr val="63716B"/>
                </a:solidFill>
              </a:defRPr>
            </a:pPr>
            <a:r>
              <a:rPr sz="1575">
                <a:solidFill>
                  <a:srgbClr val="63716B"/>
                </a:solidFill>
              </a:rPr>
              <a:t>Team buys stability without making a star-level bet.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480EE77-0794-4395-BCC4-08E5FAFE758C}"/>
              </a:ext>
            </a:extLst>
          </p:cNvPr>
          <p:cNvSpPr>
            <a:spLocks noGrp="1"/>
          </p:cNvSpPr>
          <p:nvPr/>
        </p:nvSpPr>
        <p:spPr>
          <a:xfrm>
            <a:off x="8801100" y="5219700"/>
            <a:ext cx="457200" cy="457200"/>
          </a:xfrm>
          <a:prstGeom prst="ellipse">
            <a:avLst/>
          </a:prstGeom>
          <a:solidFill>
            <a:srgbClr val="4C956C"/>
          </a:solidFill>
          <a:ln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66532F-8A56-41D9-BD57-6465FA08B8FA}"/>
              </a:ext>
            </a:extLst>
          </p:cNvPr>
          <p:cNvSpPr>
            <a:spLocks noGrp="1"/>
          </p:cNvSpPr>
          <p:nvPr/>
        </p:nvSpPr>
        <p:spPr>
          <a:xfrm>
            <a:off x="12573000" y="3619500"/>
            <a:ext cx="3733800" cy="1790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700" b="1">
                <a:solidFill>
                  <a:srgbClr val="C96E2E"/>
                </a:solidFill>
              </a:defRPr>
            </a:pPr>
            <a:r>
              <a:rPr sz="11700" b="1">
                <a:solidFill>
                  <a:srgbClr val="C96E2E"/>
                </a:solidFill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4F4E28-E6B0-4A69-BA8F-2298E143A377}"/>
              </a:ext>
            </a:extLst>
          </p:cNvPr>
          <p:cNvSpPr>
            <a:spLocks noGrp="1"/>
          </p:cNvSpPr>
          <p:nvPr/>
        </p:nvSpPr>
        <p:spPr>
          <a:xfrm>
            <a:off x="12611100" y="5676900"/>
            <a:ext cx="37338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650" b="1">
                <a:solidFill>
                  <a:srgbClr val="C96E2E"/>
                </a:solidFill>
              </a:defRPr>
            </a:pPr>
            <a:r>
              <a:rPr sz="1650" b="1" dirty="0">
                <a:solidFill>
                  <a:srgbClr val="C96E2E"/>
                </a:solidFill>
              </a:rPr>
              <a:t>YEARS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ACC9D4-C5CF-4FF3-B282-15FF83AC1B92}"/>
              </a:ext>
            </a:extLst>
          </p:cNvPr>
          <p:cNvSpPr>
            <a:spLocks noGrp="1"/>
          </p:cNvSpPr>
          <p:nvPr/>
        </p:nvSpPr>
        <p:spPr>
          <a:xfrm>
            <a:off x="12573000" y="5810250"/>
            <a:ext cx="37338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250" b="1">
                <a:solidFill>
                  <a:srgbClr val="13201D"/>
                </a:solidFill>
              </a:defRPr>
            </a:pPr>
            <a:r>
              <a:rPr sz="2250" b="1">
                <a:solidFill>
                  <a:srgbClr val="13201D"/>
                </a:solidFill>
              </a:rPr>
              <a:t>Star extension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BECA54-95F7-434D-A4DD-D2E34C73FBC3}"/>
              </a:ext>
            </a:extLst>
          </p:cNvPr>
          <p:cNvSpPr>
            <a:spLocks noGrp="1"/>
          </p:cNvSpPr>
          <p:nvPr/>
        </p:nvSpPr>
        <p:spPr>
          <a:xfrm>
            <a:off x="12573000" y="6229350"/>
            <a:ext cx="37338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75">
                <a:solidFill>
                  <a:srgbClr val="63716B"/>
                </a:solidFill>
              </a:defRPr>
            </a:pPr>
            <a:r>
              <a:rPr sz="1575">
                <a:solidFill>
                  <a:srgbClr val="63716B"/>
                </a:solidFill>
              </a:rPr>
              <a:t>Longer commitment usually requires a different price path.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B228EB9-8327-4717-B36B-3B851C07E86B}"/>
              </a:ext>
            </a:extLst>
          </p:cNvPr>
          <p:cNvSpPr>
            <a:spLocks noGrp="1"/>
          </p:cNvSpPr>
          <p:nvPr/>
        </p:nvSpPr>
        <p:spPr>
          <a:xfrm>
            <a:off x="14135100" y="5219700"/>
            <a:ext cx="457200" cy="457200"/>
          </a:xfrm>
          <a:prstGeom prst="ellipse">
            <a:avLst/>
          </a:prstGeom>
          <a:solidFill>
            <a:srgbClr val="C96E2E"/>
          </a:solidFill>
          <a:ln>
            <a:solidFill>
              <a:srgbClr val="C96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42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">
            <a:extLst>
              <a:ext uri="{FF2B5EF4-FFF2-40B4-BE49-F238E27FC236}">
                <a16:creationId xmlns:a16="http://schemas.microsoft.com/office/drawing/2014/main" id="{CBDC3D04-14F2-4822-9965-C9B4677E8D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251C"/>
          </a:solidFill>
          <a:ln>
            <a:solidFill>
              <a:srgbClr val="0D2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EB20CE-E1AE-412D-897E-C9798F0E8D0C}"/>
              </a:ext>
            </a:extLst>
          </p:cNvPr>
          <p:cNvSpPr>
            <a:spLocks noGrp="1"/>
          </p:cNvSpPr>
          <p:nvPr/>
        </p:nvSpPr>
        <p:spPr>
          <a:xfrm>
            <a:off x="914400" y="742950"/>
            <a:ext cx="647700" cy="47625"/>
          </a:xfrm>
          <a:prstGeom prst="rect">
            <a:avLst/>
          </a:prstGeom>
          <a:solidFill>
            <a:srgbClr val="DDAF4A"/>
          </a:solidFill>
          <a:ln w="0">
            <a:solidFill>
              <a:srgbClr val="DDA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A28D8A-6A2D-4E58-B48D-28D36C2CA3F5}"/>
              </a:ext>
            </a:extLst>
          </p:cNvPr>
          <p:cNvSpPr>
            <a:spLocks noGrp="1"/>
          </p:cNvSpPr>
          <p:nvPr/>
        </p:nvSpPr>
        <p:spPr>
          <a:xfrm>
            <a:off x="1695450" y="666750"/>
            <a:ext cx="4953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DAF4A"/>
                </a:solidFill>
              </a:defRPr>
            </a:pPr>
            <a:r>
              <a:rPr sz="1350" b="1">
                <a:solidFill>
                  <a:srgbClr val="DDAF4A"/>
                </a:solidFill>
              </a:rPr>
              <a:t>BACKGROUND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52ED5F77-531D-40E8-9091-445A4F34AB2D}"/>
              </a:ext>
            </a:extLst>
          </p:cNvPr>
          <p:cNvSpPr>
            <a:spLocks noGrp="1"/>
          </p:cNvSpPr>
          <p:nvPr/>
        </p:nvSpPr>
        <p:spPr>
          <a:xfrm>
            <a:off x="914400" y="1238250"/>
            <a:ext cx="133350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Raw dollars do not travel across eras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D89C32-C6B5-4BB6-AE7F-E865CA0B96D8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126682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>
                <a:solidFill>
                  <a:srgbClr val="D7E0D8"/>
                </a:solidFill>
              </a:defRPr>
            </a:pPr>
            <a:r>
              <a:rPr sz="2025">
                <a:solidFill>
                  <a:srgbClr val="D7E0D8"/>
                </a:solidFill>
              </a:rPr>
              <a:t>A $10M salary means something different when the league cap is $120M versus $300M. AAV% normalizes contracts to the market at signing.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4E99D-0EE2-4BFF-AE69-3B7C85AABF1D}"/>
              </a:ext>
            </a:extLst>
          </p:cNvPr>
          <p:cNvSpPr>
            <a:spLocks noGrp="1"/>
          </p:cNvSpPr>
          <p:nvPr/>
        </p:nvSpPr>
        <p:spPr>
          <a:xfrm>
            <a:off x="3295650" y="4191000"/>
            <a:ext cx="5334000" cy="1314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550" b="1">
                <a:solidFill>
                  <a:srgbClr val="DDAF4A"/>
                </a:solidFill>
              </a:defRPr>
            </a:pPr>
            <a:r>
              <a:rPr sz="8550" b="1">
                <a:solidFill>
                  <a:srgbClr val="DDAF4A"/>
                </a:solidFill>
              </a:rPr>
              <a:t>$10M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4276DA-8235-4D86-BE4A-A9CDD621F121}"/>
              </a:ext>
            </a:extLst>
          </p:cNvPr>
          <p:cNvSpPr>
            <a:spLocks noGrp="1"/>
          </p:cNvSpPr>
          <p:nvPr/>
        </p:nvSpPr>
        <p:spPr>
          <a:xfrm>
            <a:off x="3295650" y="5562600"/>
            <a:ext cx="53340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75">
                <a:solidFill>
                  <a:srgbClr val="EAF0EA"/>
                </a:solidFill>
              </a:defRPr>
            </a:pPr>
            <a:r>
              <a:rPr sz="1875">
                <a:solidFill>
                  <a:srgbClr val="EAF0EA"/>
                </a:solidFill>
              </a:rPr>
              <a:t>under a $120M cap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76C0BE-2580-437A-A60F-67E823D7CF4E}"/>
              </a:ext>
            </a:extLst>
          </p:cNvPr>
          <p:cNvSpPr>
            <a:spLocks noGrp="1"/>
          </p:cNvSpPr>
          <p:nvPr/>
        </p:nvSpPr>
        <p:spPr>
          <a:xfrm>
            <a:off x="3295650" y="5924550"/>
            <a:ext cx="5334000" cy="8572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8.3% of cap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175C83-E691-4E94-8C4F-1A06AB8DC503}"/>
              </a:ext>
            </a:extLst>
          </p:cNvPr>
          <p:cNvSpPr>
            <a:spLocks noGrp="1"/>
          </p:cNvSpPr>
          <p:nvPr/>
        </p:nvSpPr>
        <p:spPr>
          <a:xfrm>
            <a:off x="9677400" y="4191000"/>
            <a:ext cx="5334000" cy="1314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550" b="1">
                <a:solidFill>
                  <a:srgbClr val="DDAF4A"/>
                </a:solidFill>
              </a:defRPr>
            </a:pPr>
            <a:r>
              <a:rPr sz="8550" b="1">
                <a:solidFill>
                  <a:srgbClr val="DDAF4A"/>
                </a:solidFill>
              </a:rPr>
              <a:t>$10M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D8258D-829B-4133-A499-0E2D6E423278}"/>
              </a:ext>
            </a:extLst>
          </p:cNvPr>
          <p:cNvSpPr>
            <a:spLocks noGrp="1"/>
          </p:cNvSpPr>
          <p:nvPr/>
        </p:nvSpPr>
        <p:spPr>
          <a:xfrm>
            <a:off x="9677400" y="5562600"/>
            <a:ext cx="53340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75">
                <a:solidFill>
                  <a:srgbClr val="EAF0EA"/>
                </a:solidFill>
              </a:defRPr>
            </a:pPr>
            <a:r>
              <a:rPr sz="1875">
                <a:solidFill>
                  <a:srgbClr val="EAF0EA"/>
                </a:solidFill>
              </a:rPr>
              <a:t>under a $300M cap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1785E1-AEC1-444D-86DF-C3A2C1A19032}"/>
              </a:ext>
            </a:extLst>
          </p:cNvPr>
          <p:cNvSpPr>
            <a:spLocks noGrp="1"/>
          </p:cNvSpPr>
          <p:nvPr/>
        </p:nvSpPr>
        <p:spPr>
          <a:xfrm>
            <a:off x="9677400" y="5924550"/>
            <a:ext cx="5334000" cy="8572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3.3% of cap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BCEDC8-9F7A-43DE-BE0C-376EB3B56B18}"/>
              </a:ext>
            </a:extLst>
          </p:cNvPr>
          <p:cNvSpPr>
            <a:spLocks noGrp="1"/>
          </p:cNvSpPr>
          <p:nvPr/>
        </p:nvSpPr>
        <p:spPr>
          <a:xfrm>
            <a:off x="3524250" y="7772400"/>
            <a:ext cx="11239500" cy="19050"/>
          </a:xfrm>
          <a:prstGeom prst="rect">
            <a:avLst/>
          </a:prstGeom>
          <a:solidFill>
            <a:srgbClr val="5C7F68"/>
          </a:solidFill>
          <a:ln w="0">
            <a:solidFill>
              <a:srgbClr val="5C7F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D6A40D-B25F-4326-A597-5C25AFF2E5CD}"/>
              </a:ext>
            </a:extLst>
          </p:cNvPr>
          <p:cNvSpPr>
            <a:spLocks noGrp="1"/>
          </p:cNvSpPr>
          <p:nvPr/>
        </p:nvSpPr>
        <p:spPr>
          <a:xfrm>
            <a:off x="3295650" y="8248650"/>
            <a:ext cx="1171575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>
                <a:solidFill>
                  <a:srgbClr val="D7E0D8"/>
                </a:solidFill>
              </a:defRPr>
            </a:pPr>
            <a:r>
              <a:rPr sz="2400" dirty="0">
                <a:solidFill>
                  <a:srgbClr val="D7E0D8"/>
                </a:solidFill>
              </a:rPr>
              <a:t>That is why the compensation target is cap-share AAV, then translated back to dollars for the 2026 dashboard.</a:t>
            </a:r>
          </a:p>
        </p:txBody>
      </p:sp>
    </p:spTree>
    <p:extLst>
      <p:ext uri="{BB962C8B-B14F-4D97-AF65-F5344CB8AC3E}">
        <p14:creationId xmlns:p14="http://schemas.microsoft.com/office/powerpoint/2010/main" val="1688528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ackground">
            <a:extLst>
              <a:ext uri="{FF2B5EF4-FFF2-40B4-BE49-F238E27FC236}">
                <a16:creationId xmlns:a16="http://schemas.microsoft.com/office/drawing/2014/main" id="{7809AEF2-80D1-475B-9FD3-AED4FC3EEB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7"/>
          </a:solidFill>
          <a:ln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BA1870-47D0-4FEE-BF29-C6D66E4AAE41}"/>
              </a:ext>
            </a:extLst>
          </p:cNvPr>
          <p:cNvSpPr>
            <a:spLocks noGrp="1"/>
          </p:cNvSpPr>
          <p:nvPr/>
        </p:nvSpPr>
        <p:spPr>
          <a:xfrm>
            <a:off x="914400" y="742950"/>
            <a:ext cx="647700" cy="47625"/>
          </a:xfrm>
          <a:prstGeom prst="rect">
            <a:avLst/>
          </a:prstGeom>
          <a:solidFill>
            <a:srgbClr val="DDAF4A"/>
          </a:solidFill>
          <a:ln w="0">
            <a:solidFill>
              <a:srgbClr val="DDA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CBD9AF-EE6A-478D-941B-D5B499774136}"/>
              </a:ext>
            </a:extLst>
          </p:cNvPr>
          <p:cNvSpPr>
            <a:spLocks noGrp="1"/>
          </p:cNvSpPr>
          <p:nvPr/>
        </p:nvSpPr>
        <p:spPr>
          <a:xfrm>
            <a:off x="1695450" y="666750"/>
            <a:ext cx="4953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DAF4A"/>
                </a:solidFill>
              </a:defRPr>
            </a:pPr>
            <a:r>
              <a:rPr sz="1350" b="1">
                <a:solidFill>
                  <a:srgbClr val="DDAF4A"/>
                </a:solidFill>
              </a:rPr>
              <a:t>RESEARCH QUESTIONS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093C35EF-774A-4E9D-899A-3CFA84D23823}"/>
              </a:ext>
            </a:extLst>
          </p:cNvPr>
          <p:cNvSpPr>
            <a:spLocks noGrp="1"/>
          </p:cNvSpPr>
          <p:nvPr/>
        </p:nvSpPr>
        <p:spPr>
          <a:xfrm>
            <a:off x="914400" y="1238250"/>
            <a:ext cx="10477500" cy="1790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850" b="1">
                <a:solidFill>
                  <a:srgbClr val="13201D"/>
                </a:solidFill>
              </a:defRPr>
            </a:pPr>
            <a:r>
              <a:rPr sz="5850" b="1">
                <a:solidFill>
                  <a:srgbClr val="13201D"/>
                </a:solidFill>
              </a:rPr>
              <a:t>The project asks three questions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56FA2E-693B-4BE9-8EDD-C2F7265EEF5B}"/>
              </a:ext>
            </a:extLst>
          </p:cNvPr>
          <p:cNvSpPr>
            <a:spLocks noGrp="1"/>
          </p:cNvSpPr>
          <p:nvPr/>
        </p:nvSpPr>
        <p:spPr>
          <a:xfrm>
            <a:off x="1143000" y="2819400"/>
            <a:ext cx="1428750" cy="1352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850" b="1">
                <a:solidFill>
                  <a:srgbClr val="376996"/>
                </a:solidFill>
              </a:defRPr>
            </a:pPr>
            <a:r>
              <a:rPr sz="8850" b="1">
                <a:solidFill>
                  <a:srgbClr val="376996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DBF3D-B905-4DB2-BAA6-AB2ED2DB05B0}"/>
              </a:ext>
            </a:extLst>
          </p:cNvPr>
          <p:cNvSpPr>
            <a:spLocks noGrp="1"/>
          </p:cNvSpPr>
          <p:nvPr/>
        </p:nvSpPr>
        <p:spPr>
          <a:xfrm>
            <a:off x="2857500" y="3086100"/>
            <a:ext cx="120015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>
                <a:solidFill>
                  <a:srgbClr val="13201D"/>
                </a:solidFill>
              </a:defRPr>
            </a:pPr>
            <a:r>
              <a:rPr sz="2400">
                <a:solidFill>
                  <a:srgbClr val="13201D"/>
                </a:solidFill>
              </a:rPr>
              <a:t>Can the term of a veteran wide receiver contract be predicted from public information available before signing?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784A35-CC51-4C7D-82BA-CEEB4EA46483}"/>
              </a:ext>
            </a:extLst>
          </p:cNvPr>
          <p:cNvSpPr>
            <a:spLocks noGrp="1"/>
          </p:cNvSpPr>
          <p:nvPr/>
        </p:nvSpPr>
        <p:spPr>
          <a:xfrm>
            <a:off x="2857500" y="4400550"/>
            <a:ext cx="11811000" cy="19050"/>
          </a:xfrm>
          <a:prstGeom prst="rect">
            <a:avLst/>
          </a:prstGeom>
          <a:solidFill>
            <a:srgbClr val="D1D7CF"/>
          </a:solidFill>
          <a:ln w="0">
            <a:solidFill>
              <a:srgbClr val="D1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B89EFA-0C81-4674-A1F9-924AA31B2532}"/>
              </a:ext>
            </a:extLst>
          </p:cNvPr>
          <p:cNvSpPr>
            <a:spLocks noGrp="1"/>
          </p:cNvSpPr>
          <p:nvPr/>
        </p:nvSpPr>
        <p:spPr>
          <a:xfrm>
            <a:off x="1143000" y="4781550"/>
            <a:ext cx="1428750" cy="1352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850" b="1">
                <a:solidFill>
                  <a:srgbClr val="4C956C"/>
                </a:solidFill>
              </a:defRPr>
            </a:pPr>
            <a:r>
              <a:rPr sz="8850" b="1">
                <a:solidFill>
                  <a:srgbClr val="4C956C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E93265-CD72-4192-AB53-346F0EB08053}"/>
              </a:ext>
            </a:extLst>
          </p:cNvPr>
          <p:cNvSpPr>
            <a:spLocks noGrp="1"/>
          </p:cNvSpPr>
          <p:nvPr/>
        </p:nvSpPr>
        <p:spPr>
          <a:xfrm>
            <a:off x="2857500" y="5048250"/>
            <a:ext cx="120015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>
                <a:solidFill>
                  <a:srgbClr val="13201D"/>
                </a:solidFill>
              </a:defRPr>
            </a:pPr>
            <a:r>
              <a:rPr sz="2400">
                <a:solidFill>
                  <a:srgbClr val="13201D"/>
                </a:solidFill>
              </a:rPr>
              <a:t>Can the contract's AAV as a percentage of the salary cap be predicted with useful accuracy?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A539DC-409B-4F2C-B23B-66FD5F9C4750}"/>
              </a:ext>
            </a:extLst>
          </p:cNvPr>
          <p:cNvSpPr>
            <a:spLocks noGrp="1"/>
          </p:cNvSpPr>
          <p:nvPr/>
        </p:nvSpPr>
        <p:spPr>
          <a:xfrm>
            <a:off x="2857500" y="6362700"/>
            <a:ext cx="11811000" cy="19050"/>
          </a:xfrm>
          <a:prstGeom prst="rect">
            <a:avLst/>
          </a:prstGeom>
          <a:solidFill>
            <a:srgbClr val="D1D7CF"/>
          </a:solidFill>
          <a:ln w="0">
            <a:solidFill>
              <a:srgbClr val="D1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D9DFEA-25D3-4A64-9CB1-45A54551EA82}"/>
              </a:ext>
            </a:extLst>
          </p:cNvPr>
          <p:cNvSpPr>
            <a:spLocks noGrp="1"/>
          </p:cNvSpPr>
          <p:nvPr/>
        </p:nvSpPr>
        <p:spPr>
          <a:xfrm>
            <a:off x="1143000" y="6724650"/>
            <a:ext cx="1428750" cy="1352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850" b="1">
                <a:solidFill>
                  <a:srgbClr val="C96E2E"/>
                </a:solidFill>
              </a:defRPr>
            </a:pPr>
            <a:r>
              <a:rPr sz="8850" b="1">
                <a:solidFill>
                  <a:srgbClr val="C96E2E"/>
                </a:solidFill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261663-5E2D-467D-A22F-5F0174FC86AD}"/>
              </a:ext>
            </a:extLst>
          </p:cNvPr>
          <p:cNvSpPr>
            <a:spLocks noGrp="1"/>
          </p:cNvSpPr>
          <p:nvPr/>
        </p:nvSpPr>
        <p:spPr>
          <a:xfrm>
            <a:off x="2857500" y="6991350"/>
            <a:ext cx="120015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>
                <a:solidFill>
                  <a:srgbClr val="13201D"/>
                </a:solidFill>
              </a:defRPr>
            </a:pPr>
            <a:r>
              <a:rPr sz="2400">
                <a:solidFill>
                  <a:srgbClr val="13201D"/>
                </a:solidFill>
              </a:rPr>
              <a:t>Which contract-history, career-stage, production, team-context, and market variables explain those predictions?</a:t>
            </a:r>
          </a:p>
        </p:txBody>
      </p:sp>
    </p:spTree>
    <p:extLst>
      <p:ext uri="{BB962C8B-B14F-4D97-AF65-F5344CB8AC3E}">
        <p14:creationId xmlns:p14="http://schemas.microsoft.com/office/powerpoint/2010/main" val="1296120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ackground">
            <a:extLst>
              <a:ext uri="{FF2B5EF4-FFF2-40B4-BE49-F238E27FC236}">
                <a16:creationId xmlns:a16="http://schemas.microsoft.com/office/drawing/2014/main" id="{3B7F6DA1-E1D1-4512-BF86-D0AF92487E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7"/>
          </a:solidFill>
          <a:ln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contract-source-image"/>
          <p:cNvPicPr>
            <a:picLocks noChangeAspect="1"/>
          </p:cNvPicPr>
          <p:nvPr/>
        </p:nvPicPr>
        <p:blipFill>
          <a:blip r:embed="rId3"/>
          <a:srcRect l="30198" r="30198"/>
          <a:stretch>
            <a:fillRect/>
          </a:stretch>
        </p:blipFill>
        <p:spPr>
          <a:xfrm>
            <a:off x="0" y="0"/>
            <a:ext cx="7239000" cy="10287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FDE9822-82C8-4582-BFC6-273313999339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11582400" cy="10287000"/>
          </a:xfrm>
          <a:prstGeom prst="rect">
            <a:avLst/>
          </a:prstGeom>
          <a:solidFill>
            <a:srgbClr val="FFFDF7"/>
          </a:solidFill>
          <a:ln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1EB0F9-EB9F-4B13-8349-4E4E5DFFE175}"/>
              </a:ext>
            </a:extLst>
          </p:cNvPr>
          <p:cNvSpPr>
            <a:spLocks noGrp="1"/>
          </p:cNvSpPr>
          <p:nvPr/>
        </p:nvSpPr>
        <p:spPr>
          <a:xfrm>
            <a:off x="914400" y="742950"/>
            <a:ext cx="647700" cy="47625"/>
          </a:xfrm>
          <a:prstGeom prst="rect">
            <a:avLst/>
          </a:prstGeom>
          <a:solidFill>
            <a:srgbClr val="DDAF4A"/>
          </a:solidFill>
          <a:ln w="0">
            <a:solidFill>
              <a:srgbClr val="DDA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DF2534-D8AE-47F2-A7FB-157246ACD5FD}"/>
              </a:ext>
            </a:extLst>
          </p:cNvPr>
          <p:cNvSpPr>
            <a:spLocks noGrp="1"/>
          </p:cNvSpPr>
          <p:nvPr/>
        </p:nvSpPr>
        <p:spPr>
          <a:xfrm>
            <a:off x="1695450" y="666750"/>
            <a:ext cx="4953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DAF4A"/>
                </a:solidFill>
              </a:defRPr>
            </a:pPr>
            <a:r>
              <a:rPr sz="1350" b="1">
                <a:solidFill>
                  <a:srgbClr val="DDAF4A"/>
                </a:solidFill>
              </a:rPr>
              <a:t>DATA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97D91B16-9DF6-4701-9B4B-494BE3D38FD4}"/>
              </a:ext>
            </a:extLst>
          </p:cNvPr>
          <p:cNvSpPr>
            <a:spLocks noGrp="1"/>
          </p:cNvSpPr>
          <p:nvPr/>
        </p:nvSpPr>
        <p:spPr>
          <a:xfrm>
            <a:off x="7715250" y="1219200"/>
            <a:ext cx="8953500" cy="1695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550" b="1">
                <a:solidFill>
                  <a:srgbClr val="13201D"/>
                </a:solidFill>
              </a:defRPr>
            </a:pPr>
            <a:r>
              <a:rPr sz="5550" b="1">
                <a:solidFill>
                  <a:srgbClr val="13201D"/>
                </a:solidFill>
              </a:rPr>
              <a:t>The contract file is the spine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24AC94-F184-4F38-B1A7-B5A9CF6B80FC}"/>
              </a:ext>
            </a:extLst>
          </p:cNvPr>
          <p:cNvSpPr>
            <a:spLocks noGrp="1"/>
          </p:cNvSpPr>
          <p:nvPr/>
        </p:nvSpPr>
        <p:spPr>
          <a:xfrm>
            <a:off x="7905750" y="2952750"/>
            <a:ext cx="666750" cy="8572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5550" b="1">
                <a:solidFill>
                  <a:srgbClr val="376996"/>
                </a:solidFill>
              </a:defRPr>
            </a:pPr>
            <a:r>
              <a:rPr sz="5550" b="1">
                <a:solidFill>
                  <a:srgbClr val="376996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043387-5B07-441D-8415-C2F6599E1D14}"/>
              </a:ext>
            </a:extLst>
          </p:cNvPr>
          <p:cNvSpPr>
            <a:spLocks noGrp="1"/>
          </p:cNvSpPr>
          <p:nvPr/>
        </p:nvSpPr>
        <p:spPr>
          <a:xfrm>
            <a:off x="8839200" y="2952750"/>
            <a:ext cx="80200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13201D"/>
                </a:solidFill>
              </a:defRPr>
            </a:pPr>
            <a:r>
              <a:rPr sz="2400" b="1">
                <a:solidFill>
                  <a:srgbClr val="13201D"/>
                </a:solidFill>
              </a:rPr>
              <a:t>Spotrac WR exports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5BB019-3A6C-4C8A-807E-12C2BE55FAC0}"/>
              </a:ext>
            </a:extLst>
          </p:cNvPr>
          <p:cNvSpPr>
            <a:spLocks noGrp="1"/>
          </p:cNvSpPr>
          <p:nvPr/>
        </p:nvSpPr>
        <p:spPr>
          <a:xfrm>
            <a:off x="8839200" y="3371850"/>
            <a:ext cx="8020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3716B"/>
                </a:solidFill>
              </a:defRPr>
            </a:pPr>
            <a:r>
              <a:rPr sz="1800">
                <a:solidFill>
                  <a:srgbClr val="63716B"/>
                </a:solidFill>
              </a:rPr>
              <a:t>player, team, age, start/end year, term, value, AAV, AAV%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DA6C98-AABF-4696-B5FE-4CFF7B2603DE}"/>
              </a:ext>
            </a:extLst>
          </p:cNvPr>
          <p:cNvSpPr>
            <a:spLocks noGrp="1"/>
          </p:cNvSpPr>
          <p:nvPr/>
        </p:nvSpPr>
        <p:spPr>
          <a:xfrm>
            <a:off x="7905750" y="4438650"/>
            <a:ext cx="666750" cy="8572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5550" b="1">
                <a:solidFill>
                  <a:srgbClr val="4C956C"/>
                </a:solidFill>
              </a:defRPr>
            </a:pPr>
            <a:r>
              <a:rPr sz="5550" b="1">
                <a:solidFill>
                  <a:srgbClr val="4C956C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7A7EE4-FD3F-42EE-AF23-7F25388DC784}"/>
              </a:ext>
            </a:extLst>
          </p:cNvPr>
          <p:cNvSpPr>
            <a:spLocks noGrp="1"/>
          </p:cNvSpPr>
          <p:nvPr/>
        </p:nvSpPr>
        <p:spPr>
          <a:xfrm>
            <a:off x="8839200" y="4438650"/>
            <a:ext cx="80200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13201D"/>
                </a:solidFill>
              </a:defRPr>
            </a:pPr>
            <a:r>
              <a:rPr sz="2400" b="1">
                <a:solidFill>
                  <a:srgbClr val="13201D"/>
                </a:solidFill>
              </a:rPr>
              <a:t>nflreadr / nflverse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5BDEB2-F511-41C8-8CE5-62186F29DA03}"/>
              </a:ext>
            </a:extLst>
          </p:cNvPr>
          <p:cNvSpPr>
            <a:spLocks noGrp="1"/>
          </p:cNvSpPr>
          <p:nvPr/>
        </p:nvSpPr>
        <p:spPr>
          <a:xfrm>
            <a:off x="8839200" y="4838700"/>
            <a:ext cx="80200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3716B"/>
                </a:solidFill>
              </a:defRPr>
            </a:pPr>
            <a:r>
              <a:rPr sz="1800">
                <a:solidFill>
                  <a:srgbClr val="63716B"/>
                </a:solidFill>
              </a:rPr>
              <a:t>players, rosters, combine, stats, snaps, Next Gen receiving, team context, schedules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479930-1F23-42C0-AC3C-9D707EBC2065}"/>
              </a:ext>
            </a:extLst>
          </p:cNvPr>
          <p:cNvSpPr>
            <a:spLocks noGrp="1"/>
          </p:cNvSpPr>
          <p:nvPr/>
        </p:nvSpPr>
        <p:spPr>
          <a:xfrm>
            <a:off x="7905750" y="5905500"/>
            <a:ext cx="666750" cy="8572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5550" b="1">
                <a:solidFill>
                  <a:srgbClr val="C96E2E"/>
                </a:solidFill>
              </a:defRPr>
            </a:pPr>
            <a:r>
              <a:rPr sz="5550" b="1">
                <a:solidFill>
                  <a:srgbClr val="C96E2E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ECE702-1A3B-4FA8-8ED0-02C9D4AD0AEC}"/>
              </a:ext>
            </a:extLst>
          </p:cNvPr>
          <p:cNvSpPr>
            <a:spLocks noGrp="1"/>
          </p:cNvSpPr>
          <p:nvPr/>
        </p:nvSpPr>
        <p:spPr>
          <a:xfrm>
            <a:off x="8839200" y="5905500"/>
            <a:ext cx="80200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13201D"/>
                </a:solidFill>
              </a:defRPr>
            </a:pPr>
            <a:r>
              <a:rPr sz="2400" b="1">
                <a:solidFill>
                  <a:srgbClr val="13201D"/>
                </a:solidFill>
              </a:rPr>
              <a:t>ESPN transactions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CC0E32-9C8D-4E72-B339-1E5A5BFEAC11}"/>
              </a:ext>
            </a:extLst>
          </p:cNvPr>
          <p:cNvSpPr>
            <a:spLocks noGrp="1"/>
          </p:cNvSpPr>
          <p:nvPr/>
        </p:nvSpPr>
        <p:spPr>
          <a:xfrm>
            <a:off x="8839200" y="6324600"/>
            <a:ext cx="8020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3716B"/>
                </a:solidFill>
              </a:defRPr>
            </a:pPr>
            <a:r>
              <a:rPr sz="1800">
                <a:solidFill>
                  <a:srgbClr val="63716B"/>
                </a:solidFill>
              </a:rPr>
              <a:t>dated signing-event clues to reduce post-signing leakage</a:t>
            </a:r>
          </a:p>
        </p:txBody>
      </p:sp>
    </p:spTree>
    <p:extLst>
      <p:ext uri="{BB962C8B-B14F-4D97-AF65-F5344CB8AC3E}">
        <p14:creationId xmlns:p14="http://schemas.microsoft.com/office/powerpoint/2010/main" val="22262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ackground">
            <a:extLst>
              <a:ext uri="{FF2B5EF4-FFF2-40B4-BE49-F238E27FC236}">
                <a16:creationId xmlns:a16="http://schemas.microsoft.com/office/drawing/2014/main" id="{09294BA2-1924-47C7-A955-A9F4122830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73D2A"/>
          </a:solidFill>
          <a:ln>
            <a:solidFill>
              <a:srgbClr val="173D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79C9C0-FEB5-499D-830D-C303F3293F02}"/>
              </a:ext>
            </a:extLst>
          </p:cNvPr>
          <p:cNvSpPr>
            <a:spLocks noGrp="1"/>
          </p:cNvSpPr>
          <p:nvPr/>
        </p:nvSpPr>
        <p:spPr>
          <a:xfrm>
            <a:off x="914400" y="742950"/>
            <a:ext cx="647700" cy="47625"/>
          </a:xfrm>
          <a:prstGeom prst="rect">
            <a:avLst/>
          </a:prstGeom>
          <a:solidFill>
            <a:srgbClr val="DDAF4A"/>
          </a:solidFill>
          <a:ln w="0">
            <a:solidFill>
              <a:srgbClr val="DDA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824279-280E-4FBD-853C-A129FDDD919E}"/>
              </a:ext>
            </a:extLst>
          </p:cNvPr>
          <p:cNvSpPr>
            <a:spLocks noGrp="1"/>
          </p:cNvSpPr>
          <p:nvPr/>
        </p:nvSpPr>
        <p:spPr>
          <a:xfrm>
            <a:off x="1695450" y="666750"/>
            <a:ext cx="4953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DAF4A"/>
                </a:solidFill>
              </a:defRPr>
            </a:pPr>
            <a:r>
              <a:rPr sz="1350" b="1">
                <a:solidFill>
                  <a:srgbClr val="DDAF4A"/>
                </a:solidFill>
              </a:rPr>
              <a:t>WRANGLING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AD35A4D9-923B-4CC3-8D62-2424B8F83F52}"/>
              </a:ext>
            </a:extLst>
          </p:cNvPr>
          <p:cNvSpPr>
            <a:spLocks noGrp="1"/>
          </p:cNvSpPr>
          <p:nvPr/>
        </p:nvSpPr>
        <p:spPr>
          <a:xfrm>
            <a:off x="914400" y="1219200"/>
            <a:ext cx="13239750" cy="1695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The wrangling pipeline prevents leakage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D3BE2A-C8FF-416D-8136-506666B26AC3}"/>
              </a:ext>
            </a:extLst>
          </p:cNvPr>
          <p:cNvSpPr>
            <a:spLocks noGrp="1"/>
          </p:cNvSpPr>
          <p:nvPr/>
        </p:nvSpPr>
        <p:spPr>
          <a:xfrm>
            <a:off x="1104900" y="3429000"/>
            <a:ext cx="952500" cy="971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300" b="1">
                <a:solidFill>
                  <a:srgbClr val="DDAF4A"/>
                </a:solidFill>
              </a:defRPr>
            </a:pPr>
            <a:r>
              <a:rPr sz="6300" b="1">
                <a:solidFill>
                  <a:srgbClr val="DDAF4A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7A152D-1FC2-4E91-94CC-4E24B1B7548E}"/>
              </a:ext>
            </a:extLst>
          </p:cNvPr>
          <p:cNvSpPr>
            <a:spLocks noGrp="1"/>
          </p:cNvSpPr>
          <p:nvPr/>
        </p:nvSpPr>
        <p:spPr>
          <a:xfrm>
            <a:off x="2000250" y="3886200"/>
            <a:ext cx="2286000" cy="38100"/>
          </a:xfrm>
          <a:prstGeom prst="rect">
            <a:avLst/>
          </a:prstGeom>
          <a:solidFill>
            <a:srgbClr val="6D8E75"/>
          </a:solidFill>
          <a:ln w="0">
            <a:solidFill>
              <a:srgbClr val="6D8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AB182A-4D2D-4250-9F9E-B60E0A8710BD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2476500" cy="647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Clean contract spine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ACB090-F29C-4204-8F2D-CFBCDA0E4CF2}"/>
              </a:ext>
            </a:extLst>
          </p:cNvPr>
          <p:cNvSpPr>
            <a:spLocks noGrp="1"/>
          </p:cNvSpPr>
          <p:nvPr/>
        </p:nvSpPr>
        <p:spPr>
          <a:xfrm>
            <a:off x="723900" y="5486400"/>
            <a:ext cx="24765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75">
                <a:solidFill>
                  <a:srgbClr val="CAD7CE"/>
                </a:solidFill>
              </a:defRPr>
            </a:pPr>
            <a:r>
              <a:rPr sz="1575">
                <a:solidFill>
                  <a:srgbClr val="CAD7CE"/>
                </a:solidFill>
              </a:rPr>
              <a:t>standardize names, parse values, repair end years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16C7E5-E20C-4683-91CC-A88C09568E8B}"/>
              </a:ext>
            </a:extLst>
          </p:cNvPr>
          <p:cNvSpPr>
            <a:spLocks noGrp="1"/>
          </p:cNvSpPr>
          <p:nvPr/>
        </p:nvSpPr>
        <p:spPr>
          <a:xfrm>
            <a:off x="4438650" y="3429000"/>
            <a:ext cx="952500" cy="971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300" b="1">
                <a:solidFill>
                  <a:srgbClr val="DDAF4A"/>
                </a:solidFill>
              </a:defRPr>
            </a:pPr>
            <a:r>
              <a:rPr sz="6300" b="1">
                <a:solidFill>
                  <a:srgbClr val="DDAF4A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F5C565-E607-466F-B0C0-57DA6C06CE5C}"/>
              </a:ext>
            </a:extLst>
          </p:cNvPr>
          <p:cNvSpPr>
            <a:spLocks noGrp="1"/>
          </p:cNvSpPr>
          <p:nvPr/>
        </p:nvSpPr>
        <p:spPr>
          <a:xfrm>
            <a:off x="5334000" y="3886200"/>
            <a:ext cx="2286000" cy="38100"/>
          </a:xfrm>
          <a:prstGeom prst="rect">
            <a:avLst/>
          </a:prstGeom>
          <a:solidFill>
            <a:srgbClr val="6D8E75"/>
          </a:solidFill>
          <a:ln w="0">
            <a:solidFill>
              <a:srgbClr val="6D8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2337AF-2367-4CB2-B6CC-296B7902792A}"/>
              </a:ext>
            </a:extLst>
          </p:cNvPr>
          <p:cNvSpPr>
            <a:spLocks noGrp="1"/>
          </p:cNvSpPr>
          <p:nvPr/>
        </p:nvSpPr>
        <p:spPr>
          <a:xfrm>
            <a:off x="4057650" y="4762500"/>
            <a:ext cx="2476500" cy="647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Remove wrong market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BD08FE-AAC0-4325-895D-0CA4EF24CA4B}"/>
              </a:ext>
            </a:extLst>
          </p:cNvPr>
          <p:cNvSpPr>
            <a:spLocks noGrp="1"/>
          </p:cNvSpPr>
          <p:nvPr/>
        </p:nvSpPr>
        <p:spPr>
          <a:xfrm>
            <a:off x="4057650" y="5486400"/>
            <a:ext cx="24765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75">
                <a:solidFill>
                  <a:srgbClr val="CAD7CE"/>
                </a:solidFill>
              </a:defRPr>
            </a:pPr>
            <a:r>
              <a:rPr sz="1575">
                <a:solidFill>
                  <a:srgbClr val="CAD7CE"/>
                </a:solidFill>
              </a:rPr>
              <a:t>drop rookie-scale and rookie-adjacent deals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D36D6B-09E1-413D-9237-B00220C1DB80}"/>
              </a:ext>
            </a:extLst>
          </p:cNvPr>
          <p:cNvSpPr>
            <a:spLocks noGrp="1"/>
          </p:cNvSpPr>
          <p:nvPr/>
        </p:nvSpPr>
        <p:spPr>
          <a:xfrm>
            <a:off x="7772400" y="3429000"/>
            <a:ext cx="952500" cy="971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300" b="1">
                <a:solidFill>
                  <a:srgbClr val="DDAF4A"/>
                </a:solidFill>
              </a:defRPr>
            </a:pPr>
            <a:r>
              <a:rPr sz="6300" b="1">
                <a:solidFill>
                  <a:srgbClr val="DDAF4A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713203-7495-48F9-9494-46D973B1A3B8}"/>
              </a:ext>
            </a:extLst>
          </p:cNvPr>
          <p:cNvSpPr>
            <a:spLocks noGrp="1"/>
          </p:cNvSpPr>
          <p:nvPr/>
        </p:nvSpPr>
        <p:spPr>
          <a:xfrm>
            <a:off x="8667750" y="3886200"/>
            <a:ext cx="2286000" cy="38100"/>
          </a:xfrm>
          <a:prstGeom prst="rect">
            <a:avLst/>
          </a:prstGeom>
          <a:solidFill>
            <a:srgbClr val="6D8E75"/>
          </a:solidFill>
          <a:ln w="0">
            <a:solidFill>
              <a:srgbClr val="6D8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C780E5-BA45-4387-9A74-4863AB825D53}"/>
              </a:ext>
            </a:extLst>
          </p:cNvPr>
          <p:cNvSpPr>
            <a:spLocks noGrp="1"/>
          </p:cNvSpPr>
          <p:nvPr/>
        </p:nvSpPr>
        <p:spPr>
          <a:xfrm>
            <a:off x="7391400" y="4762500"/>
            <a:ext cx="24765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Find reference date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B762AD-A737-4AED-8F17-70596D5DEAD7}"/>
              </a:ext>
            </a:extLst>
          </p:cNvPr>
          <p:cNvSpPr>
            <a:spLocks noGrp="1"/>
          </p:cNvSpPr>
          <p:nvPr/>
        </p:nvSpPr>
        <p:spPr>
          <a:xfrm>
            <a:off x="7391400" y="5162550"/>
            <a:ext cx="2476500" cy="723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75">
                <a:solidFill>
                  <a:srgbClr val="CAD7CE"/>
                </a:solidFill>
              </a:defRPr>
            </a:pPr>
            <a:r>
              <a:rPr sz="1575">
                <a:solidFill>
                  <a:srgbClr val="CAD7CE"/>
                </a:solidFill>
              </a:rPr>
              <a:t>ESPN signing date when matched; March 15 proxy otherwise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E38D42-CD35-4A3B-BD01-E81DF78C36EE}"/>
              </a:ext>
            </a:extLst>
          </p:cNvPr>
          <p:cNvSpPr>
            <a:spLocks noGrp="1"/>
          </p:cNvSpPr>
          <p:nvPr/>
        </p:nvSpPr>
        <p:spPr>
          <a:xfrm>
            <a:off x="11106150" y="3429000"/>
            <a:ext cx="952500" cy="971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300" b="1">
                <a:solidFill>
                  <a:srgbClr val="DDAF4A"/>
                </a:solidFill>
              </a:defRPr>
            </a:pPr>
            <a:r>
              <a:rPr sz="6300" b="1">
                <a:solidFill>
                  <a:srgbClr val="DDAF4A"/>
                </a:solidFill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8CADFF-A7F1-4053-A415-34DBE97FEF52}"/>
              </a:ext>
            </a:extLst>
          </p:cNvPr>
          <p:cNvSpPr>
            <a:spLocks noGrp="1"/>
          </p:cNvSpPr>
          <p:nvPr/>
        </p:nvSpPr>
        <p:spPr>
          <a:xfrm>
            <a:off x="12001500" y="3886200"/>
            <a:ext cx="2286000" cy="38100"/>
          </a:xfrm>
          <a:prstGeom prst="rect">
            <a:avLst/>
          </a:prstGeom>
          <a:solidFill>
            <a:srgbClr val="6D8E75"/>
          </a:solidFill>
          <a:ln w="0">
            <a:solidFill>
              <a:srgbClr val="6D8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CA2B46-079A-4F33-BA27-67FE43C2E5E0}"/>
              </a:ext>
            </a:extLst>
          </p:cNvPr>
          <p:cNvSpPr>
            <a:spLocks noGrp="1"/>
          </p:cNvSpPr>
          <p:nvPr/>
        </p:nvSpPr>
        <p:spPr>
          <a:xfrm>
            <a:off x="10725150" y="4762500"/>
            <a:ext cx="2476500" cy="647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Freeze history windows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1D331D-D33B-4469-B290-9A17D08E29A8}"/>
              </a:ext>
            </a:extLst>
          </p:cNvPr>
          <p:cNvSpPr>
            <a:spLocks noGrp="1"/>
          </p:cNvSpPr>
          <p:nvPr/>
        </p:nvSpPr>
        <p:spPr>
          <a:xfrm>
            <a:off x="10725150" y="5486400"/>
            <a:ext cx="24765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75">
                <a:solidFill>
                  <a:srgbClr val="CAD7CE"/>
                </a:solidFill>
              </a:defRPr>
            </a:pPr>
            <a:r>
              <a:rPr sz="1575">
                <a:solidFill>
                  <a:srgbClr val="CAD7CE"/>
                </a:solidFill>
              </a:rPr>
              <a:t>prev1/prev2 are the last fully completed seasons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908B86-E6FE-4278-A3DB-F807F21F5534}"/>
              </a:ext>
            </a:extLst>
          </p:cNvPr>
          <p:cNvSpPr>
            <a:spLocks noGrp="1"/>
          </p:cNvSpPr>
          <p:nvPr/>
        </p:nvSpPr>
        <p:spPr>
          <a:xfrm>
            <a:off x="14439900" y="3429000"/>
            <a:ext cx="952500" cy="971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300" b="1">
                <a:solidFill>
                  <a:srgbClr val="DDAF4A"/>
                </a:solidFill>
              </a:defRPr>
            </a:pPr>
            <a:r>
              <a:rPr sz="6300" b="1">
                <a:solidFill>
                  <a:srgbClr val="DDAF4A"/>
                </a:solidFill>
              </a:rPr>
              <a:t>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B19BAC-2C98-4254-8326-3EE23DA9EC4E}"/>
              </a:ext>
            </a:extLst>
          </p:cNvPr>
          <p:cNvSpPr>
            <a:spLocks noGrp="1"/>
          </p:cNvSpPr>
          <p:nvPr/>
        </p:nvSpPr>
        <p:spPr>
          <a:xfrm>
            <a:off x="14058900" y="4762500"/>
            <a:ext cx="24765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Build prior context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CB507E-97D2-4939-B825-B41972380BCC}"/>
              </a:ext>
            </a:extLst>
          </p:cNvPr>
          <p:cNvSpPr>
            <a:spLocks noGrp="1"/>
          </p:cNvSpPr>
          <p:nvPr/>
        </p:nvSpPr>
        <p:spPr>
          <a:xfrm>
            <a:off x="14058900" y="5162550"/>
            <a:ext cx="2476500" cy="723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75">
                <a:solidFill>
                  <a:srgbClr val="CAD7CE"/>
                </a:solidFill>
              </a:defRPr>
            </a:pPr>
            <a:r>
              <a:rPr sz="1575">
                <a:solidFill>
                  <a:srgbClr val="CAD7CE"/>
                </a:solidFill>
              </a:rPr>
              <a:t>contract history, production, team, market, availability flags</a:t>
            </a:r>
          </a:p>
        </p:txBody>
      </p:sp>
    </p:spTree>
    <p:extLst>
      <p:ext uri="{BB962C8B-B14F-4D97-AF65-F5344CB8AC3E}">
        <p14:creationId xmlns:p14="http://schemas.microsoft.com/office/powerpoint/2010/main" val="804271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ackground">
            <a:extLst>
              <a:ext uri="{FF2B5EF4-FFF2-40B4-BE49-F238E27FC236}">
                <a16:creationId xmlns:a16="http://schemas.microsoft.com/office/drawing/2014/main" id="{03018DF3-5E42-4EE9-8F18-633D14A2BA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7"/>
          </a:solidFill>
          <a:ln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5FFFDC-DDFB-4772-979A-6DE521089307}"/>
              </a:ext>
            </a:extLst>
          </p:cNvPr>
          <p:cNvSpPr>
            <a:spLocks noGrp="1"/>
          </p:cNvSpPr>
          <p:nvPr/>
        </p:nvSpPr>
        <p:spPr>
          <a:xfrm>
            <a:off x="914400" y="742950"/>
            <a:ext cx="647700" cy="47625"/>
          </a:xfrm>
          <a:prstGeom prst="rect">
            <a:avLst/>
          </a:prstGeom>
          <a:solidFill>
            <a:srgbClr val="DDAF4A"/>
          </a:solidFill>
          <a:ln w="0">
            <a:solidFill>
              <a:srgbClr val="DDA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CBBED-C061-4A1A-8601-FA456A4E2807}"/>
              </a:ext>
            </a:extLst>
          </p:cNvPr>
          <p:cNvSpPr>
            <a:spLocks noGrp="1"/>
          </p:cNvSpPr>
          <p:nvPr/>
        </p:nvSpPr>
        <p:spPr>
          <a:xfrm>
            <a:off x="1695450" y="666750"/>
            <a:ext cx="4953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DAF4A"/>
                </a:solidFill>
              </a:defRPr>
            </a:pPr>
            <a:r>
              <a:rPr sz="1350" b="1">
                <a:solidFill>
                  <a:srgbClr val="DDAF4A"/>
                </a:solidFill>
              </a:rPr>
              <a:t>DATA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DDDDEC31-849F-465E-B38B-8FA26C399419}"/>
              </a:ext>
            </a:extLst>
          </p:cNvPr>
          <p:cNvSpPr>
            <a:spLocks noGrp="1"/>
          </p:cNvSpPr>
          <p:nvPr/>
        </p:nvSpPr>
        <p:spPr>
          <a:xfrm>
            <a:off x="914400" y="1219200"/>
            <a:ext cx="1428750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13201D"/>
                </a:solidFill>
              </a:defRPr>
            </a:pPr>
            <a:r>
              <a:rPr sz="4650" b="1">
                <a:solidFill>
                  <a:srgbClr val="13201D"/>
                </a:solidFill>
              </a:rPr>
              <a:t>The file is wide because contracts price more than box scores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BDC3D-9FA3-4113-B0C2-35CB0577B75A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125730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63716B"/>
                </a:solidFill>
              </a:defRPr>
            </a:pPr>
            <a:r>
              <a:rPr sz="1950">
                <a:solidFill>
                  <a:srgbClr val="63716B"/>
                </a:solidFill>
              </a:rPr>
              <a:t>Each row carries contract history, player context, production, usage, team environment, and the wider WR market available before signing.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9191CC-34D5-4EBF-99B8-4924829B4CEF}"/>
              </a:ext>
            </a:extLst>
          </p:cNvPr>
          <p:cNvSpPr>
            <a:spLocks noGrp="1"/>
          </p:cNvSpPr>
          <p:nvPr/>
        </p:nvSpPr>
        <p:spPr>
          <a:xfrm>
            <a:off x="1066800" y="3581400"/>
            <a:ext cx="9753600" cy="609600"/>
          </a:xfrm>
          <a:prstGeom prst="rect">
            <a:avLst/>
          </a:prstGeom>
          <a:solidFill>
            <a:srgbClr val="F1EEE5"/>
          </a:solidFill>
          <a:ln>
            <a:solidFill>
              <a:srgbClr val="F1E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7D4F37-A9D8-4807-AD15-06537BB50E24}"/>
              </a:ext>
            </a:extLst>
          </p:cNvPr>
          <p:cNvSpPr>
            <a:spLocks noGrp="1"/>
          </p:cNvSpPr>
          <p:nvPr/>
        </p:nvSpPr>
        <p:spPr>
          <a:xfrm>
            <a:off x="1333500" y="3695700"/>
            <a:ext cx="304800" cy="304800"/>
          </a:xfrm>
          <a:prstGeom prst="ellipse">
            <a:avLst/>
          </a:prstGeom>
          <a:solidFill>
            <a:srgbClr val="376996"/>
          </a:solidFill>
          <a:ln>
            <a:solidFill>
              <a:srgbClr val="3769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319253-7A59-41F8-A514-D2E9B731F3A8}"/>
              </a:ext>
            </a:extLst>
          </p:cNvPr>
          <p:cNvSpPr>
            <a:spLocks noGrp="1"/>
          </p:cNvSpPr>
          <p:nvPr/>
        </p:nvSpPr>
        <p:spPr>
          <a:xfrm>
            <a:off x="1809750" y="3638550"/>
            <a:ext cx="29527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3201D"/>
                </a:solidFill>
              </a:defRPr>
            </a:pPr>
            <a:r>
              <a:rPr sz="2025" b="1">
                <a:solidFill>
                  <a:srgbClr val="13201D"/>
                </a:solidFill>
              </a:rPr>
              <a:t>Contract history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92B85F-7D0A-4BF2-9D76-5A908C5DF02C}"/>
              </a:ext>
            </a:extLst>
          </p:cNvPr>
          <p:cNvSpPr>
            <a:spLocks noGrp="1"/>
          </p:cNvSpPr>
          <p:nvPr/>
        </p:nvSpPr>
        <p:spPr>
          <a:xfrm>
            <a:off x="4953000" y="3657600"/>
            <a:ext cx="5334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3716B"/>
                </a:solidFill>
              </a:defRPr>
            </a:pPr>
            <a:r>
              <a:rPr sz="1575">
                <a:solidFill>
                  <a:srgbClr val="63716B"/>
                </a:solidFill>
              </a:rPr>
              <a:t>prior term, prior AAV%, time since last deal, contract count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7B17DF-055E-48E1-9882-D61D7BAAF494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9753600" cy="609600"/>
          </a:xfrm>
          <a:prstGeom prst="rect">
            <a:avLst/>
          </a:prstGeom>
          <a:solidFill>
            <a:srgbClr val="FAF8F1"/>
          </a:solidFill>
          <a:ln>
            <a:solidFill>
              <a:srgbClr val="FAF8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8F6003D-361B-4060-9BD7-5A78D58B3BB0}"/>
              </a:ext>
            </a:extLst>
          </p:cNvPr>
          <p:cNvSpPr>
            <a:spLocks noGrp="1"/>
          </p:cNvSpPr>
          <p:nvPr/>
        </p:nvSpPr>
        <p:spPr>
          <a:xfrm>
            <a:off x="1333500" y="4381500"/>
            <a:ext cx="304800" cy="304800"/>
          </a:xfrm>
          <a:prstGeom prst="ellipse">
            <a:avLst/>
          </a:prstGeom>
          <a:solidFill>
            <a:srgbClr val="4C956C"/>
          </a:solidFill>
          <a:ln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81CC1-D4A8-430F-88FB-4F0D9742082B}"/>
              </a:ext>
            </a:extLst>
          </p:cNvPr>
          <p:cNvSpPr>
            <a:spLocks noGrp="1"/>
          </p:cNvSpPr>
          <p:nvPr/>
        </p:nvSpPr>
        <p:spPr>
          <a:xfrm>
            <a:off x="1809750" y="4343400"/>
            <a:ext cx="29527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3201D"/>
                </a:solidFill>
              </a:defRPr>
            </a:pPr>
            <a:r>
              <a:rPr sz="2025" b="1">
                <a:solidFill>
                  <a:srgbClr val="13201D"/>
                </a:solidFill>
              </a:rPr>
              <a:t>Career stage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7F35A7-2133-4B9D-8AE3-9ABFC6607CF6}"/>
              </a:ext>
            </a:extLst>
          </p:cNvPr>
          <p:cNvSpPr>
            <a:spLocks noGrp="1"/>
          </p:cNvSpPr>
          <p:nvPr/>
        </p:nvSpPr>
        <p:spPr>
          <a:xfrm>
            <a:off x="4953000" y="4381500"/>
            <a:ext cx="5334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3716B"/>
                </a:solidFill>
              </a:defRPr>
            </a:pPr>
            <a:r>
              <a:rPr sz="1575">
                <a:solidFill>
                  <a:srgbClr val="63716B"/>
                </a:solidFill>
              </a:rPr>
              <a:t>age, experience, draft status, combine when available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52644A-4AAB-44D0-A5B5-4288B3E01716}"/>
              </a:ext>
            </a:extLst>
          </p:cNvPr>
          <p:cNvSpPr>
            <a:spLocks noGrp="1"/>
          </p:cNvSpPr>
          <p:nvPr/>
        </p:nvSpPr>
        <p:spPr>
          <a:xfrm>
            <a:off x="1066800" y="4953000"/>
            <a:ext cx="9753600" cy="609600"/>
          </a:xfrm>
          <a:prstGeom prst="rect">
            <a:avLst/>
          </a:prstGeom>
          <a:solidFill>
            <a:srgbClr val="F1EEE5"/>
          </a:solidFill>
          <a:ln>
            <a:solidFill>
              <a:srgbClr val="F1E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285BE7A-3A5E-48A5-B580-384B729F3272}"/>
              </a:ext>
            </a:extLst>
          </p:cNvPr>
          <p:cNvSpPr>
            <a:spLocks noGrp="1"/>
          </p:cNvSpPr>
          <p:nvPr/>
        </p:nvSpPr>
        <p:spPr>
          <a:xfrm>
            <a:off x="1333500" y="5105400"/>
            <a:ext cx="304800" cy="304800"/>
          </a:xfrm>
          <a:prstGeom prst="ellipse">
            <a:avLst/>
          </a:prstGeom>
          <a:solidFill>
            <a:srgbClr val="C96E2E"/>
          </a:solidFill>
          <a:ln>
            <a:solidFill>
              <a:srgbClr val="C96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C300EA-0C76-414C-926F-C6FD3B89B50F}"/>
              </a:ext>
            </a:extLst>
          </p:cNvPr>
          <p:cNvSpPr>
            <a:spLocks noGrp="1"/>
          </p:cNvSpPr>
          <p:nvPr/>
        </p:nvSpPr>
        <p:spPr>
          <a:xfrm>
            <a:off x="1809750" y="5067300"/>
            <a:ext cx="29527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3201D"/>
                </a:solidFill>
              </a:defRPr>
            </a:pPr>
            <a:r>
              <a:rPr sz="2025" b="1">
                <a:solidFill>
                  <a:srgbClr val="13201D"/>
                </a:solidFill>
              </a:rPr>
              <a:t>Receiving production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417F8-C70D-4E71-A0F4-74216186D740}"/>
              </a:ext>
            </a:extLst>
          </p:cNvPr>
          <p:cNvSpPr>
            <a:spLocks noGrp="1"/>
          </p:cNvSpPr>
          <p:nvPr/>
        </p:nvSpPr>
        <p:spPr>
          <a:xfrm>
            <a:off x="4953000" y="5086350"/>
            <a:ext cx="5334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3716B"/>
                </a:solidFill>
              </a:defRPr>
            </a:pPr>
            <a:r>
              <a:rPr sz="1575">
                <a:solidFill>
                  <a:srgbClr val="63716B"/>
                </a:solidFill>
              </a:rPr>
              <a:t>targets, catches, yards, TDs, first downs, EPA, shares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377033-06CF-408D-ABAE-6919FD144B81}"/>
              </a:ext>
            </a:extLst>
          </p:cNvPr>
          <p:cNvSpPr>
            <a:spLocks noGrp="1"/>
          </p:cNvSpPr>
          <p:nvPr/>
        </p:nvSpPr>
        <p:spPr>
          <a:xfrm>
            <a:off x="1066800" y="5715000"/>
            <a:ext cx="9753600" cy="609600"/>
          </a:xfrm>
          <a:prstGeom prst="rect">
            <a:avLst/>
          </a:prstGeom>
          <a:solidFill>
            <a:srgbClr val="FAF8F1"/>
          </a:solidFill>
          <a:ln>
            <a:solidFill>
              <a:srgbClr val="FAF8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4BADA9E-DDA2-42DA-8337-D97A6C83017B}"/>
              </a:ext>
            </a:extLst>
          </p:cNvPr>
          <p:cNvSpPr>
            <a:spLocks noGrp="1"/>
          </p:cNvSpPr>
          <p:nvPr/>
        </p:nvSpPr>
        <p:spPr>
          <a:xfrm>
            <a:off x="1333500" y="5829300"/>
            <a:ext cx="304800" cy="304800"/>
          </a:xfrm>
          <a:prstGeom prst="ellipse">
            <a:avLst/>
          </a:prstGeom>
          <a:solidFill>
            <a:srgbClr val="B85C4E"/>
          </a:solidFill>
          <a:ln>
            <a:solidFill>
              <a:srgbClr val="B85C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FB7035-ED23-4F61-9E75-EAEAFC31FA59}"/>
              </a:ext>
            </a:extLst>
          </p:cNvPr>
          <p:cNvSpPr>
            <a:spLocks noGrp="1"/>
          </p:cNvSpPr>
          <p:nvPr/>
        </p:nvSpPr>
        <p:spPr>
          <a:xfrm>
            <a:off x="1809750" y="5772150"/>
            <a:ext cx="29527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3201D"/>
                </a:solidFill>
              </a:defRPr>
            </a:pPr>
            <a:r>
              <a:rPr sz="2025" b="1">
                <a:solidFill>
                  <a:srgbClr val="13201D"/>
                </a:solidFill>
              </a:rPr>
              <a:t>Usage and tracking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BB560C-E019-4502-85AA-4C5EBE065AD4}"/>
              </a:ext>
            </a:extLst>
          </p:cNvPr>
          <p:cNvSpPr>
            <a:spLocks noGrp="1"/>
          </p:cNvSpPr>
          <p:nvPr/>
        </p:nvSpPr>
        <p:spPr>
          <a:xfrm>
            <a:off x="4953000" y="5810250"/>
            <a:ext cx="5334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3716B"/>
                </a:solidFill>
              </a:defRPr>
            </a:pPr>
            <a:r>
              <a:rPr sz="1575">
                <a:solidFill>
                  <a:srgbClr val="63716B"/>
                </a:solidFill>
              </a:rPr>
              <a:t>snaps, route-adjacent role signals, Next Gen receiving where available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9105BE-5D9E-4029-B1EC-72412AA6418C}"/>
              </a:ext>
            </a:extLst>
          </p:cNvPr>
          <p:cNvSpPr>
            <a:spLocks noGrp="1"/>
          </p:cNvSpPr>
          <p:nvPr/>
        </p:nvSpPr>
        <p:spPr>
          <a:xfrm>
            <a:off x="1066800" y="6400800"/>
            <a:ext cx="9753600" cy="609600"/>
          </a:xfrm>
          <a:prstGeom prst="rect">
            <a:avLst/>
          </a:prstGeom>
          <a:solidFill>
            <a:srgbClr val="F1EEE5"/>
          </a:solidFill>
          <a:ln>
            <a:solidFill>
              <a:srgbClr val="F1E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13DA14B-1C38-490E-AB9B-3EA2F714DB99}"/>
              </a:ext>
            </a:extLst>
          </p:cNvPr>
          <p:cNvSpPr>
            <a:spLocks noGrp="1"/>
          </p:cNvSpPr>
          <p:nvPr/>
        </p:nvSpPr>
        <p:spPr>
          <a:xfrm>
            <a:off x="1333500" y="6553200"/>
            <a:ext cx="304800" cy="304800"/>
          </a:xfrm>
          <a:prstGeom prst="ellipse">
            <a:avLst/>
          </a:prstGeom>
          <a:solidFill>
            <a:srgbClr val="376996"/>
          </a:solidFill>
          <a:ln>
            <a:solidFill>
              <a:srgbClr val="3769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06916A-110F-4087-90FD-4B55323E2037}"/>
              </a:ext>
            </a:extLst>
          </p:cNvPr>
          <p:cNvSpPr>
            <a:spLocks noGrp="1"/>
          </p:cNvSpPr>
          <p:nvPr/>
        </p:nvSpPr>
        <p:spPr>
          <a:xfrm>
            <a:off x="1809750" y="6496050"/>
            <a:ext cx="29527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3201D"/>
                </a:solidFill>
              </a:defRPr>
            </a:pPr>
            <a:r>
              <a:rPr sz="2025" b="1">
                <a:solidFill>
                  <a:srgbClr val="13201D"/>
                </a:solidFill>
              </a:rPr>
              <a:t>Team context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D4E3A9-6D69-45D3-A4D3-D371208F9979}"/>
              </a:ext>
            </a:extLst>
          </p:cNvPr>
          <p:cNvSpPr>
            <a:spLocks noGrp="1"/>
          </p:cNvSpPr>
          <p:nvPr/>
        </p:nvSpPr>
        <p:spPr>
          <a:xfrm>
            <a:off x="4953000" y="6515100"/>
            <a:ext cx="5334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3716B"/>
                </a:solidFill>
              </a:defRPr>
            </a:pPr>
            <a:r>
              <a:rPr sz="1575">
                <a:solidFill>
                  <a:srgbClr val="63716B"/>
                </a:solidFill>
              </a:rPr>
              <a:t>passing volume, efficiency, wins, point differential, offense scale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FA991C-2A62-4171-8C9D-8C5E217C139C}"/>
              </a:ext>
            </a:extLst>
          </p:cNvPr>
          <p:cNvSpPr>
            <a:spLocks noGrp="1"/>
          </p:cNvSpPr>
          <p:nvPr/>
        </p:nvSpPr>
        <p:spPr>
          <a:xfrm>
            <a:off x="1066800" y="7086600"/>
            <a:ext cx="9753600" cy="609600"/>
          </a:xfrm>
          <a:prstGeom prst="rect">
            <a:avLst/>
          </a:prstGeom>
          <a:solidFill>
            <a:srgbClr val="FAF8F1"/>
          </a:solidFill>
          <a:ln>
            <a:solidFill>
              <a:srgbClr val="FAF8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98FDCA5-543E-44F0-9BD8-B914983A0901}"/>
              </a:ext>
            </a:extLst>
          </p:cNvPr>
          <p:cNvSpPr>
            <a:spLocks noGrp="1"/>
          </p:cNvSpPr>
          <p:nvPr/>
        </p:nvSpPr>
        <p:spPr>
          <a:xfrm>
            <a:off x="1333500" y="7239000"/>
            <a:ext cx="304800" cy="304800"/>
          </a:xfrm>
          <a:prstGeom prst="ellipse">
            <a:avLst/>
          </a:prstGeom>
          <a:solidFill>
            <a:srgbClr val="4C956C"/>
          </a:solidFill>
          <a:ln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C671C5-5678-4FE8-A4FD-6BD26D4C7D4D}"/>
              </a:ext>
            </a:extLst>
          </p:cNvPr>
          <p:cNvSpPr>
            <a:spLocks noGrp="1"/>
          </p:cNvSpPr>
          <p:nvPr/>
        </p:nvSpPr>
        <p:spPr>
          <a:xfrm>
            <a:off x="1809750" y="7200900"/>
            <a:ext cx="29527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3201D"/>
                </a:solidFill>
              </a:defRPr>
            </a:pPr>
            <a:r>
              <a:rPr sz="2025" b="1">
                <a:solidFill>
                  <a:srgbClr val="13201D"/>
                </a:solidFill>
              </a:rPr>
              <a:t>WR market context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CCC9FB-BB7C-4AA2-8FAC-D86FBF408484}"/>
              </a:ext>
            </a:extLst>
          </p:cNvPr>
          <p:cNvSpPr>
            <a:spLocks noGrp="1"/>
          </p:cNvSpPr>
          <p:nvPr/>
        </p:nvSpPr>
        <p:spPr>
          <a:xfrm>
            <a:off x="4953000" y="7239000"/>
            <a:ext cx="5334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3716B"/>
                </a:solidFill>
              </a:defRPr>
            </a:pPr>
            <a:r>
              <a:rPr sz="1575">
                <a:solidFill>
                  <a:srgbClr val="63716B"/>
                </a:solidFill>
              </a:rPr>
              <a:t>rolling market count, median term, median/p75 AAV%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7ACA4-5463-434C-9596-F233B2E1F85F}"/>
              </a:ext>
            </a:extLst>
          </p:cNvPr>
          <p:cNvSpPr>
            <a:spLocks noGrp="1"/>
          </p:cNvSpPr>
          <p:nvPr/>
        </p:nvSpPr>
        <p:spPr>
          <a:xfrm>
            <a:off x="12153900" y="3867150"/>
            <a:ext cx="4191000" cy="1409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150" b="1">
                <a:solidFill>
                  <a:srgbClr val="DDAF4A"/>
                </a:solidFill>
              </a:defRPr>
            </a:pPr>
            <a:r>
              <a:rPr sz="9150" b="1">
                <a:solidFill>
                  <a:srgbClr val="DDAF4A"/>
                </a:solidFill>
              </a:rPr>
              <a:t>456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57C04F-87AA-4116-95CA-4C51FBEB1509}"/>
              </a:ext>
            </a:extLst>
          </p:cNvPr>
          <p:cNvSpPr>
            <a:spLocks noGrp="1"/>
          </p:cNvSpPr>
          <p:nvPr/>
        </p:nvSpPr>
        <p:spPr>
          <a:xfrm>
            <a:off x="12153900" y="5372100"/>
            <a:ext cx="4191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3201D"/>
                </a:solidFill>
              </a:defRPr>
            </a:pPr>
            <a:r>
              <a:rPr sz="2250" b="1">
                <a:solidFill>
                  <a:srgbClr val="13201D"/>
                </a:solidFill>
              </a:rPr>
              <a:t>columns in each split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059360-84E5-42E0-9932-4D775C5C0AE3}"/>
              </a:ext>
            </a:extLst>
          </p:cNvPr>
          <p:cNvSpPr>
            <a:spLocks noGrp="1"/>
          </p:cNvSpPr>
          <p:nvPr/>
        </p:nvSpPr>
        <p:spPr>
          <a:xfrm>
            <a:off x="12153900" y="5829300"/>
            <a:ext cx="41910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3716B"/>
                </a:solidFill>
              </a:defRPr>
            </a:pPr>
            <a:r>
              <a:rPr sz="1800">
                <a:solidFill>
                  <a:srgbClr val="63716B"/>
                </a:solidFill>
              </a:rPr>
              <a:t>Availability flags are kept, so missing history is treated as information about what the public record knows.</a:t>
            </a:r>
          </a:p>
        </p:txBody>
      </p:sp>
      <p:graphicFrame>
        <p:nvGraphicFramePr>
          <p:cNvPr id="33" name="data-coverage-chart"/>
          <p:cNvGraphicFramePr/>
          <p:nvPr/>
        </p:nvGraphicFramePr>
        <p:xfrm>
          <a:off x="11811000" y="6524625"/>
          <a:ext cx="5334000" cy="233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63993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ackground">
            <a:extLst>
              <a:ext uri="{FF2B5EF4-FFF2-40B4-BE49-F238E27FC236}">
                <a16:creationId xmlns:a16="http://schemas.microsoft.com/office/drawing/2014/main" id="{F619551D-57C4-44CB-8C09-2158F9BAB2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6CC425-E154-44C5-8F1F-864EB69E6F85}"/>
              </a:ext>
            </a:extLst>
          </p:cNvPr>
          <p:cNvSpPr>
            <a:spLocks noGrp="1"/>
          </p:cNvSpPr>
          <p:nvPr/>
        </p:nvSpPr>
        <p:spPr>
          <a:xfrm>
            <a:off x="914400" y="742950"/>
            <a:ext cx="647700" cy="47625"/>
          </a:xfrm>
          <a:prstGeom prst="rect">
            <a:avLst/>
          </a:prstGeom>
          <a:solidFill>
            <a:srgbClr val="DDAF4A"/>
          </a:solidFill>
          <a:ln w="0">
            <a:solidFill>
              <a:srgbClr val="DDA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178EEA-55D9-4DFE-A3E9-2EB72F281990}"/>
              </a:ext>
            </a:extLst>
          </p:cNvPr>
          <p:cNvSpPr>
            <a:spLocks noGrp="1"/>
          </p:cNvSpPr>
          <p:nvPr/>
        </p:nvSpPr>
        <p:spPr>
          <a:xfrm>
            <a:off x="1695450" y="666750"/>
            <a:ext cx="4953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DAF4A"/>
                </a:solidFill>
              </a:defRPr>
            </a:pPr>
            <a:r>
              <a:rPr sz="1350" b="1">
                <a:solidFill>
                  <a:srgbClr val="DDAF4A"/>
                </a:solidFill>
              </a:rPr>
              <a:t>DATA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8FBDA72B-62C3-4815-A7B5-85EF91EC8D6F}"/>
              </a:ext>
            </a:extLst>
          </p:cNvPr>
          <p:cNvSpPr>
            <a:spLocks noGrp="1"/>
          </p:cNvSpPr>
          <p:nvPr/>
        </p:nvSpPr>
        <p:spPr>
          <a:xfrm>
            <a:off x="914400" y="1219200"/>
            <a:ext cx="1409700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100" b="1">
                <a:solidFill>
                  <a:srgbClr val="13201D"/>
                </a:solidFill>
              </a:defRPr>
            </a:pPr>
            <a:r>
              <a:rPr sz="5100" b="1">
                <a:solidFill>
                  <a:srgbClr val="13201D"/>
                </a:solidFill>
              </a:rPr>
              <a:t>The split matches the forecasting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ACE6C-0FE0-470D-A70F-85B1000B4289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12001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>
                <a:solidFill>
                  <a:srgbClr val="63716B"/>
                </a:solidFill>
              </a:defRPr>
            </a:pPr>
            <a:r>
              <a:rPr sz="2025">
                <a:solidFill>
                  <a:srgbClr val="63716B"/>
                </a:solidFill>
              </a:rPr>
              <a:t>We train on history, validate on already-signed 2026 deals, then score unsigned 2026 free agents.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BE864D-175E-46AA-9F27-BE73461D5159}"/>
              </a:ext>
            </a:extLst>
          </p:cNvPr>
          <p:cNvSpPr>
            <a:spLocks noGrp="1"/>
          </p:cNvSpPr>
          <p:nvPr/>
        </p:nvSpPr>
        <p:spPr>
          <a:xfrm>
            <a:off x="2095500" y="3524250"/>
            <a:ext cx="14097000" cy="28575"/>
          </a:xfrm>
          <a:prstGeom prst="rect">
            <a:avLst/>
          </a:prstGeom>
          <a:solidFill>
            <a:srgbClr val="13201D"/>
          </a:solidFill>
          <a:ln w="0">
            <a:solidFill>
              <a:srgbClr val="1320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C8CEBE-2395-4B11-9555-DD717D842CB2}"/>
              </a:ext>
            </a:extLst>
          </p:cNvPr>
          <p:cNvSpPr>
            <a:spLocks noGrp="1"/>
          </p:cNvSpPr>
          <p:nvPr/>
        </p:nvSpPr>
        <p:spPr>
          <a:xfrm>
            <a:off x="2190750" y="3714750"/>
            <a:ext cx="23812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376996"/>
                </a:solidFill>
              </a:defRPr>
            </a:pPr>
            <a:r>
              <a:rPr sz="4650" b="1">
                <a:solidFill>
                  <a:srgbClr val="376996"/>
                </a:solidFill>
              </a:rPr>
              <a:t>Train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433EB7-7CEC-4A7A-A338-B24AC244AAC9}"/>
              </a:ext>
            </a:extLst>
          </p:cNvPr>
          <p:cNvSpPr>
            <a:spLocks noGrp="1"/>
          </p:cNvSpPr>
          <p:nvPr/>
        </p:nvSpPr>
        <p:spPr>
          <a:xfrm>
            <a:off x="4953000" y="3790950"/>
            <a:ext cx="2476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3201D"/>
                </a:solidFill>
              </a:defRPr>
            </a:pPr>
            <a:r>
              <a:rPr sz="2025" b="1">
                <a:solidFill>
                  <a:srgbClr val="13201D"/>
                </a:solidFill>
              </a:rPr>
              <a:t>2002-2025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3E1BFF-42F7-4733-839D-F6A67BD7C3EA}"/>
              </a:ext>
            </a:extLst>
          </p:cNvPr>
          <p:cNvSpPr>
            <a:spLocks noGrp="1"/>
          </p:cNvSpPr>
          <p:nvPr/>
        </p:nvSpPr>
        <p:spPr>
          <a:xfrm>
            <a:off x="8096250" y="3676650"/>
            <a:ext cx="23812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376996"/>
                </a:solidFill>
              </a:defRPr>
            </a:pPr>
            <a:r>
              <a:rPr sz="5250" b="1">
                <a:solidFill>
                  <a:srgbClr val="376996"/>
                </a:solidFill>
              </a:rPr>
              <a:t>2,796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B49EDD-7B6A-4329-84BA-6D84140E1139}"/>
              </a:ext>
            </a:extLst>
          </p:cNvPr>
          <p:cNvSpPr>
            <a:spLocks noGrp="1"/>
          </p:cNvSpPr>
          <p:nvPr/>
        </p:nvSpPr>
        <p:spPr>
          <a:xfrm>
            <a:off x="8096250" y="4419600"/>
            <a:ext cx="152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3716B"/>
                </a:solidFill>
              </a:defRPr>
            </a:pPr>
            <a:r>
              <a:rPr sz="1500">
                <a:solidFill>
                  <a:srgbClr val="63716B"/>
                </a:solidFill>
              </a:rPr>
              <a:t>rows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E254FB-274C-429D-93B7-91FE44887760}"/>
              </a:ext>
            </a:extLst>
          </p:cNvPr>
          <p:cNvSpPr>
            <a:spLocks noGrp="1"/>
          </p:cNvSpPr>
          <p:nvPr/>
        </p:nvSpPr>
        <p:spPr>
          <a:xfrm>
            <a:off x="10858500" y="3676650"/>
            <a:ext cx="23812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376996"/>
                </a:solidFill>
              </a:defRPr>
            </a:pPr>
            <a:r>
              <a:rPr sz="5250" b="1">
                <a:solidFill>
                  <a:srgbClr val="376996"/>
                </a:solidFill>
              </a:rPr>
              <a:t>1,305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656344-9BC4-4C34-85DC-D949CD84D9C3}"/>
              </a:ext>
            </a:extLst>
          </p:cNvPr>
          <p:cNvSpPr>
            <a:spLocks noGrp="1"/>
          </p:cNvSpPr>
          <p:nvPr/>
        </p:nvSpPr>
        <p:spPr>
          <a:xfrm>
            <a:off x="10858500" y="4419600"/>
            <a:ext cx="152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3716B"/>
                </a:solidFill>
              </a:defRPr>
            </a:pPr>
            <a:r>
              <a:rPr sz="1500">
                <a:solidFill>
                  <a:srgbClr val="63716B"/>
                </a:solidFill>
              </a:rPr>
              <a:t>players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34720-7349-42FA-9AB3-05FC937B454F}"/>
              </a:ext>
            </a:extLst>
          </p:cNvPr>
          <p:cNvSpPr>
            <a:spLocks noGrp="1"/>
          </p:cNvSpPr>
          <p:nvPr/>
        </p:nvSpPr>
        <p:spPr>
          <a:xfrm>
            <a:off x="13620750" y="3848100"/>
            <a:ext cx="28575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3201D"/>
                </a:solidFill>
              </a:defRPr>
            </a:pPr>
            <a:r>
              <a:rPr sz="1950">
                <a:solidFill>
                  <a:srgbClr val="13201D"/>
                </a:solidFill>
              </a:rPr>
              <a:t>historical signed contracts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31B723-E9AA-4541-9F17-35338167A949}"/>
              </a:ext>
            </a:extLst>
          </p:cNvPr>
          <p:cNvSpPr>
            <a:spLocks noGrp="1"/>
          </p:cNvSpPr>
          <p:nvPr/>
        </p:nvSpPr>
        <p:spPr>
          <a:xfrm>
            <a:off x="2095500" y="5105400"/>
            <a:ext cx="14097000" cy="19050"/>
          </a:xfrm>
          <a:prstGeom prst="rect">
            <a:avLst/>
          </a:prstGeom>
          <a:solidFill>
            <a:srgbClr val="D1D7CF"/>
          </a:solidFill>
          <a:ln w="0">
            <a:solidFill>
              <a:srgbClr val="D1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09601D-71EA-4C92-B232-E9A337621BAE}"/>
              </a:ext>
            </a:extLst>
          </p:cNvPr>
          <p:cNvSpPr>
            <a:spLocks noGrp="1"/>
          </p:cNvSpPr>
          <p:nvPr/>
        </p:nvSpPr>
        <p:spPr>
          <a:xfrm>
            <a:off x="2190750" y="5295900"/>
            <a:ext cx="23812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4C956C"/>
                </a:solidFill>
              </a:defRPr>
            </a:pPr>
            <a:r>
              <a:rPr sz="4650" b="1">
                <a:solidFill>
                  <a:srgbClr val="4C956C"/>
                </a:solidFill>
              </a:rPr>
              <a:t>Validate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492241-AECC-4EEF-9860-AFBF8B02B094}"/>
              </a:ext>
            </a:extLst>
          </p:cNvPr>
          <p:cNvSpPr>
            <a:spLocks noGrp="1"/>
          </p:cNvSpPr>
          <p:nvPr/>
        </p:nvSpPr>
        <p:spPr>
          <a:xfrm>
            <a:off x="4953000" y="5372100"/>
            <a:ext cx="2476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3201D"/>
                </a:solidFill>
              </a:defRPr>
            </a:pPr>
            <a:r>
              <a:rPr sz="2025" b="1">
                <a:solidFill>
                  <a:srgbClr val="13201D"/>
                </a:solidFill>
              </a:rPr>
              <a:t>2026 signed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8538D5-3AD3-4018-B962-1B8B775DFE51}"/>
              </a:ext>
            </a:extLst>
          </p:cNvPr>
          <p:cNvSpPr>
            <a:spLocks noGrp="1"/>
          </p:cNvSpPr>
          <p:nvPr/>
        </p:nvSpPr>
        <p:spPr>
          <a:xfrm>
            <a:off x="8096250" y="5257800"/>
            <a:ext cx="23812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4C956C"/>
                </a:solidFill>
              </a:defRPr>
            </a:pPr>
            <a:r>
              <a:rPr sz="5250" b="1">
                <a:solidFill>
                  <a:srgbClr val="4C956C"/>
                </a:solidFill>
              </a:rPr>
              <a:t>91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587498-31C6-485F-B8B8-8D688EB3B69B}"/>
              </a:ext>
            </a:extLst>
          </p:cNvPr>
          <p:cNvSpPr>
            <a:spLocks noGrp="1"/>
          </p:cNvSpPr>
          <p:nvPr/>
        </p:nvSpPr>
        <p:spPr>
          <a:xfrm>
            <a:off x="8096250" y="6000750"/>
            <a:ext cx="152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3716B"/>
                </a:solidFill>
              </a:defRPr>
            </a:pPr>
            <a:r>
              <a:rPr sz="1500">
                <a:solidFill>
                  <a:srgbClr val="63716B"/>
                </a:solidFill>
              </a:rPr>
              <a:t>rows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FC64E4-6A8C-4285-BB96-34264AD7362C}"/>
              </a:ext>
            </a:extLst>
          </p:cNvPr>
          <p:cNvSpPr>
            <a:spLocks noGrp="1"/>
          </p:cNvSpPr>
          <p:nvPr/>
        </p:nvSpPr>
        <p:spPr>
          <a:xfrm>
            <a:off x="10858500" y="5257800"/>
            <a:ext cx="23812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4C956C"/>
                </a:solidFill>
              </a:defRPr>
            </a:pPr>
            <a:r>
              <a:rPr sz="5250" b="1">
                <a:solidFill>
                  <a:srgbClr val="4C956C"/>
                </a:solidFill>
              </a:rPr>
              <a:t>91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3812DD-DAD7-45B6-B606-E4B1C18D6DB6}"/>
              </a:ext>
            </a:extLst>
          </p:cNvPr>
          <p:cNvSpPr>
            <a:spLocks noGrp="1"/>
          </p:cNvSpPr>
          <p:nvPr/>
        </p:nvSpPr>
        <p:spPr>
          <a:xfrm>
            <a:off x="10858500" y="6000750"/>
            <a:ext cx="152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3716B"/>
                </a:solidFill>
              </a:defRPr>
            </a:pPr>
            <a:r>
              <a:rPr sz="1500">
                <a:solidFill>
                  <a:srgbClr val="63716B"/>
                </a:solidFill>
              </a:rPr>
              <a:t>players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9E8C78-7B89-478A-86CE-27CF23243D26}"/>
              </a:ext>
            </a:extLst>
          </p:cNvPr>
          <p:cNvSpPr>
            <a:spLocks noGrp="1"/>
          </p:cNvSpPr>
          <p:nvPr/>
        </p:nvSpPr>
        <p:spPr>
          <a:xfrm>
            <a:off x="13620750" y="5429250"/>
            <a:ext cx="28575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3201D"/>
                </a:solidFill>
              </a:defRPr>
            </a:pPr>
            <a:r>
              <a:rPr sz="1950">
                <a:solidFill>
                  <a:srgbClr val="13201D"/>
                </a:solidFill>
              </a:rPr>
              <a:t>held-out model comparison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046C5E-7850-4424-ABF7-BDC4046A18D9}"/>
              </a:ext>
            </a:extLst>
          </p:cNvPr>
          <p:cNvSpPr>
            <a:spLocks noGrp="1"/>
          </p:cNvSpPr>
          <p:nvPr/>
        </p:nvSpPr>
        <p:spPr>
          <a:xfrm>
            <a:off x="2095500" y="6667500"/>
            <a:ext cx="14097000" cy="19050"/>
          </a:xfrm>
          <a:prstGeom prst="rect">
            <a:avLst/>
          </a:prstGeom>
          <a:solidFill>
            <a:srgbClr val="D1D7CF"/>
          </a:solidFill>
          <a:ln w="0">
            <a:solidFill>
              <a:srgbClr val="D1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7F76CD-5B02-4817-8E83-993CF359217C}"/>
              </a:ext>
            </a:extLst>
          </p:cNvPr>
          <p:cNvSpPr>
            <a:spLocks noGrp="1"/>
          </p:cNvSpPr>
          <p:nvPr/>
        </p:nvSpPr>
        <p:spPr>
          <a:xfrm>
            <a:off x="2190750" y="6858000"/>
            <a:ext cx="23812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C96E2E"/>
                </a:solidFill>
              </a:defRPr>
            </a:pPr>
            <a:r>
              <a:rPr sz="4650" b="1">
                <a:solidFill>
                  <a:srgbClr val="C96E2E"/>
                </a:solidFill>
              </a:rPr>
              <a:t>Test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B66B7D-AE8E-4B7D-865B-3362F10EB70F}"/>
              </a:ext>
            </a:extLst>
          </p:cNvPr>
          <p:cNvSpPr>
            <a:spLocks noGrp="1"/>
          </p:cNvSpPr>
          <p:nvPr/>
        </p:nvSpPr>
        <p:spPr>
          <a:xfrm>
            <a:off x="4953000" y="6934200"/>
            <a:ext cx="2476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3201D"/>
                </a:solidFill>
              </a:defRPr>
            </a:pPr>
            <a:r>
              <a:rPr sz="2025" b="1">
                <a:solidFill>
                  <a:srgbClr val="13201D"/>
                </a:solidFill>
              </a:rPr>
              <a:t>2026 unsigned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3007CC-F18D-42B0-B5A2-4BA1282E05EE}"/>
              </a:ext>
            </a:extLst>
          </p:cNvPr>
          <p:cNvSpPr>
            <a:spLocks noGrp="1"/>
          </p:cNvSpPr>
          <p:nvPr/>
        </p:nvSpPr>
        <p:spPr>
          <a:xfrm>
            <a:off x="8096250" y="6819900"/>
            <a:ext cx="23812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C96E2E"/>
                </a:solidFill>
              </a:defRPr>
            </a:pPr>
            <a:r>
              <a:rPr sz="5250" b="1">
                <a:solidFill>
                  <a:srgbClr val="C96E2E"/>
                </a:solidFill>
              </a:rPr>
              <a:t>163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B7BBE0-4225-42E1-8269-ECBB68111062}"/>
              </a:ext>
            </a:extLst>
          </p:cNvPr>
          <p:cNvSpPr>
            <a:spLocks noGrp="1"/>
          </p:cNvSpPr>
          <p:nvPr/>
        </p:nvSpPr>
        <p:spPr>
          <a:xfrm>
            <a:off x="8096250" y="7562850"/>
            <a:ext cx="152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3716B"/>
                </a:solidFill>
              </a:defRPr>
            </a:pPr>
            <a:r>
              <a:rPr sz="1500">
                <a:solidFill>
                  <a:srgbClr val="63716B"/>
                </a:solidFill>
              </a:rPr>
              <a:t>rows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AF2994-80A8-4EB4-8870-660AC6DD6420}"/>
              </a:ext>
            </a:extLst>
          </p:cNvPr>
          <p:cNvSpPr>
            <a:spLocks noGrp="1"/>
          </p:cNvSpPr>
          <p:nvPr/>
        </p:nvSpPr>
        <p:spPr>
          <a:xfrm>
            <a:off x="10858500" y="6819900"/>
            <a:ext cx="23812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C96E2E"/>
                </a:solidFill>
              </a:defRPr>
            </a:pPr>
            <a:r>
              <a:rPr sz="5250" b="1">
                <a:solidFill>
                  <a:srgbClr val="C96E2E"/>
                </a:solidFill>
              </a:rPr>
              <a:t>163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9B430F-13FC-42AC-84C4-646274ABB73B}"/>
              </a:ext>
            </a:extLst>
          </p:cNvPr>
          <p:cNvSpPr>
            <a:spLocks noGrp="1"/>
          </p:cNvSpPr>
          <p:nvPr/>
        </p:nvSpPr>
        <p:spPr>
          <a:xfrm>
            <a:off x="10858500" y="7562850"/>
            <a:ext cx="152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3716B"/>
                </a:solidFill>
              </a:defRPr>
            </a:pPr>
            <a:r>
              <a:rPr sz="1500">
                <a:solidFill>
                  <a:srgbClr val="63716B"/>
                </a:solidFill>
              </a:rPr>
              <a:t>players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DB3935-DEDC-49F9-B9C3-D5E8B2C65B05}"/>
              </a:ext>
            </a:extLst>
          </p:cNvPr>
          <p:cNvSpPr>
            <a:spLocks noGrp="1"/>
          </p:cNvSpPr>
          <p:nvPr/>
        </p:nvSpPr>
        <p:spPr>
          <a:xfrm>
            <a:off x="13620750" y="6991350"/>
            <a:ext cx="2857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3201D"/>
                </a:solidFill>
              </a:defRPr>
            </a:pPr>
            <a:r>
              <a:rPr sz="1950">
                <a:solidFill>
                  <a:srgbClr val="13201D"/>
                </a:solidFill>
              </a:rPr>
              <a:t>production scoring target</a:t>
            </a:r>
          </a:p>
        </p:txBody>
      </p:sp>
    </p:spTree>
    <p:extLst>
      <p:ext uri="{BB962C8B-B14F-4D97-AF65-F5344CB8AC3E}">
        <p14:creationId xmlns:p14="http://schemas.microsoft.com/office/powerpoint/2010/main" val="495002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background">
            <a:extLst>
              <a:ext uri="{FF2B5EF4-FFF2-40B4-BE49-F238E27FC236}">
                <a16:creationId xmlns:a16="http://schemas.microsoft.com/office/drawing/2014/main" id="{22ABC597-9D84-4C46-97C7-4895741667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251C"/>
          </a:solidFill>
          <a:ln>
            <a:solidFill>
              <a:srgbClr val="0D251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FBFFB2-D179-44C1-8ECA-D448DECB8BD2}"/>
              </a:ext>
            </a:extLst>
          </p:cNvPr>
          <p:cNvSpPr>
            <a:spLocks noGrp="1"/>
          </p:cNvSpPr>
          <p:nvPr/>
        </p:nvSpPr>
        <p:spPr>
          <a:xfrm>
            <a:off x="914400" y="742950"/>
            <a:ext cx="647700" cy="47625"/>
          </a:xfrm>
          <a:prstGeom prst="rect">
            <a:avLst/>
          </a:prstGeom>
          <a:solidFill>
            <a:srgbClr val="DDAF4A"/>
          </a:solidFill>
          <a:ln w="0">
            <a:solidFill>
              <a:srgbClr val="DDA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3A6B3C-A840-4AA6-A7E8-80825B47CE9F}"/>
              </a:ext>
            </a:extLst>
          </p:cNvPr>
          <p:cNvSpPr>
            <a:spLocks noGrp="1"/>
          </p:cNvSpPr>
          <p:nvPr/>
        </p:nvSpPr>
        <p:spPr>
          <a:xfrm>
            <a:off x="1695450" y="666750"/>
            <a:ext cx="4953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DAF4A"/>
                </a:solidFill>
              </a:defRPr>
            </a:pPr>
            <a:r>
              <a:rPr sz="1350" b="1">
                <a:solidFill>
                  <a:srgbClr val="DDAF4A"/>
                </a:solidFill>
              </a:rPr>
              <a:t>ARCHITECTURE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C9A57525-6E69-483D-AD55-5E003143FD6A}"/>
              </a:ext>
            </a:extLst>
          </p:cNvPr>
          <p:cNvSpPr>
            <a:spLocks noGrp="1"/>
          </p:cNvSpPr>
          <p:nvPr/>
        </p:nvSpPr>
        <p:spPr>
          <a:xfrm>
            <a:off x="914400" y="1219200"/>
            <a:ext cx="120015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The solution is a term-price menu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3AA6B-D699-474A-A356-1EE3375D101B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113347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>
                <a:solidFill>
                  <a:srgbClr val="D7E0D8"/>
                </a:solidFill>
              </a:defRPr>
            </a:pPr>
            <a:r>
              <a:rPr sz="2025">
                <a:solidFill>
                  <a:srgbClr val="D7E0D8"/>
                </a:solidFill>
              </a:rPr>
              <a:t>A single dollar forecast hides the negotiation logic. We first estimate the market's commitment distribution, then price each commitment as its own scenario.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76904-D84D-49A4-A1ED-E3BE8102605D}"/>
              </a:ext>
            </a:extLst>
          </p:cNvPr>
          <p:cNvSpPr>
            <a:spLocks noGrp="1"/>
          </p:cNvSpPr>
          <p:nvPr/>
        </p:nvSpPr>
        <p:spPr>
          <a:xfrm>
            <a:off x="1066800" y="4114800"/>
            <a:ext cx="3429000" cy="3124200"/>
          </a:xfrm>
          <a:prstGeom prst="rect">
            <a:avLst/>
          </a:prstGeom>
          <a:solidFill>
            <a:srgbClr val="EEF0E7"/>
          </a:solidFill>
          <a:ln>
            <a:solidFill>
              <a:srgbClr val="EEF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D310C8-369E-4D88-94DE-27A9615A73CC}"/>
              </a:ext>
            </a:extLst>
          </p:cNvPr>
          <p:cNvSpPr>
            <a:spLocks noGrp="1"/>
          </p:cNvSpPr>
          <p:nvPr/>
        </p:nvSpPr>
        <p:spPr>
          <a:xfrm>
            <a:off x="1390650" y="4629150"/>
            <a:ext cx="2857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4C956C"/>
                </a:solidFill>
              </a:defRPr>
            </a:pPr>
            <a:r>
              <a:rPr sz="1425" b="1">
                <a:solidFill>
                  <a:srgbClr val="4C956C"/>
                </a:solidFill>
              </a:rPr>
              <a:t>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CC5B8F-F05D-40F9-AC58-96628BB913E4}"/>
              </a:ext>
            </a:extLst>
          </p:cNvPr>
          <p:cNvSpPr>
            <a:spLocks noGrp="1"/>
          </p:cNvSpPr>
          <p:nvPr/>
        </p:nvSpPr>
        <p:spPr>
          <a:xfrm>
            <a:off x="1390650" y="5010150"/>
            <a:ext cx="26670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3201D"/>
                </a:solidFill>
              </a:defRPr>
            </a:pPr>
            <a:r>
              <a:rPr sz="2250" b="1">
                <a:solidFill>
                  <a:srgbClr val="13201D"/>
                </a:solidFill>
              </a:rPr>
              <a:t>Pre-signing feature stack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A28E21-FEA8-417C-B897-99E2F50AB7DD}"/>
              </a:ext>
            </a:extLst>
          </p:cNvPr>
          <p:cNvSpPr>
            <a:spLocks noGrp="1"/>
          </p:cNvSpPr>
          <p:nvPr/>
        </p:nvSpPr>
        <p:spPr>
          <a:xfrm>
            <a:off x="1390650" y="5924550"/>
            <a:ext cx="26289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3201D"/>
                </a:solidFill>
              </a:defRPr>
            </a:pPr>
            <a:r>
              <a:rPr sz="1500">
                <a:solidFill>
                  <a:srgbClr val="13201D"/>
                </a:solidFill>
              </a:rPr>
              <a:t>contract history</a:t>
            </a:r>
          </a:p>
          <a:p>
            <a:pPr>
              <a:defRPr sz="1500">
                <a:solidFill>
                  <a:srgbClr val="13201D"/>
                </a:solidFill>
              </a:defRPr>
            </a:pPr>
            <a:r>
              <a:rPr sz="1500">
                <a:solidFill>
                  <a:srgbClr val="13201D"/>
                </a:solidFill>
              </a:rPr>
              <a:t>career stage</a:t>
            </a:r>
          </a:p>
          <a:p>
            <a:pPr>
              <a:defRPr sz="1500">
                <a:solidFill>
                  <a:srgbClr val="13201D"/>
                </a:solidFill>
              </a:defRPr>
            </a:pPr>
            <a:r>
              <a:rPr sz="1500">
                <a:solidFill>
                  <a:srgbClr val="13201D"/>
                </a:solidFill>
              </a:rPr>
              <a:t>production and usage</a:t>
            </a:r>
          </a:p>
          <a:p>
            <a:pPr>
              <a:defRPr sz="1500">
                <a:solidFill>
                  <a:srgbClr val="13201D"/>
                </a:solidFill>
              </a:defRPr>
            </a:pPr>
            <a:r>
              <a:rPr sz="1500">
                <a:solidFill>
                  <a:srgbClr val="13201D"/>
                </a:solidFill>
              </a:rPr>
              <a:t>team and WR market context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F767C3-700F-4DE5-B1EF-AEDBBC6598CC}"/>
              </a:ext>
            </a:extLst>
          </p:cNvPr>
          <p:cNvSpPr>
            <a:spLocks noGrp="1"/>
          </p:cNvSpPr>
          <p:nvPr/>
        </p:nvSpPr>
        <p:spPr>
          <a:xfrm>
            <a:off x="4819650" y="5143500"/>
            <a:ext cx="666750" cy="990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450" b="1">
                <a:solidFill>
                  <a:srgbClr val="DDAF4A"/>
                </a:solidFill>
              </a:defRPr>
            </a:pPr>
            <a:r>
              <a:rPr sz="6450" b="1">
                <a:solidFill>
                  <a:srgbClr val="DDAF4A"/>
                </a:solidFill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2538AD-7971-44A8-A9B5-3309FD97E1E5}"/>
              </a:ext>
            </a:extLst>
          </p:cNvPr>
          <p:cNvSpPr>
            <a:spLocks noGrp="1"/>
          </p:cNvSpPr>
          <p:nvPr/>
        </p:nvSpPr>
        <p:spPr>
          <a:xfrm>
            <a:off x="5715000" y="3276600"/>
            <a:ext cx="3429000" cy="1676400"/>
          </a:xfrm>
          <a:prstGeom prst="rect">
            <a:avLst/>
          </a:prstGeom>
          <a:solidFill>
            <a:srgbClr val="123425"/>
          </a:solidFill>
          <a:ln>
            <a:solidFill>
              <a:srgbClr val="123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65C00C-1118-4E19-80AB-BA5A369FEFB6}"/>
              </a:ext>
            </a:extLst>
          </p:cNvPr>
          <p:cNvSpPr>
            <a:spLocks noGrp="1"/>
          </p:cNvSpPr>
          <p:nvPr/>
        </p:nvSpPr>
        <p:spPr>
          <a:xfrm>
            <a:off x="5962650" y="3486150"/>
            <a:ext cx="2857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DDAF4A"/>
                </a:solidFill>
              </a:defRPr>
            </a:pPr>
            <a:r>
              <a:rPr sz="1425" b="1">
                <a:solidFill>
                  <a:srgbClr val="DDAF4A"/>
                </a:solidFill>
              </a:rPr>
              <a:t>STEP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4DE294-2B9D-4ABC-9C55-7D21773F8472}"/>
              </a:ext>
            </a:extLst>
          </p:cNvPr>
          <p:cNvSpPr>
            <a:spLocks noGrp="1"/>
          </p:cNvSpPr>
          <p:nvPr/>
        </p:nvSpPr>
        <p:spPr>
          <a:xfrm>
            <a:off x="5962650" y="3810000"/>
            <a:ext cx="2857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Term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0875F5-3D6E-453D-97AF-86499B2A3DB2}"/>
              </a:ext>
            </a:extLst>
          </p:cNvPr>
          <p:cNvSpPr>
            <a:spLocks noGrp="1"/>
          </p:cNvSpPr>
          <p:nvPr/>
        </p:nvSpPr>
        <p:spPr>
          <a:xfrm>
            <a:off x="5962650" y="4286250"/>
            <a:ext cx="2762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D7E0D8"/>
                </a:solidFill>
              </a:defRPr>
            </a:pPr>
            <a:r>
              <a:rPr sz="1425">
                <a:solidFill>
                  <a:srgbClr val="D7E0D8"/>
                </a:solidFill>
              </a:rPr>
              <a:t>probabilities over contract length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64B041-BF5D-4BD3-AC22-9023FFFA8749}"/>
              </a:ext>
            </a:extLst>
          </p:cNvPr>
          <p:cNvSpPr>
            <a:spLocks noGrp="1"/>
          </p:cNvSpPr>
          <p:nvPr/>
        </p:nvSpPr>
        <p:spPr>
          <a:xfrm>
            <a:off x="5791200" y="5181600"/>
            <a:ext cx="3276600" cy="381000"/>
          </a:xfrm>
          <a:prstGeom prst="rect">
            <a:avLst/>
          </a:prstGeom>
          <a:solidFill>
            <a:srgbClr val="1F4A36"/>
          </a:solidFill>
          <a:ln>
            <a:solidFill>
              <a:srgbClr val="1F4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89B07F-C9FB-4CB6-B8E2-1BD9120A4C00}"/>
              </a:ext>
            </a:extLst>
          </p:cNvPr>
          <p:cNvSpPr>
            <a:spLocks noGrp="1"/>
          </p:cNvSpPr>
          <p:nvPr/>
        </p:nvSpPr>
        <p:spPr>
          <a:xfrm>
            <a:off x="5962650" y="5181600"/>
            <a:ext cx="952500" cy="4000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550" b="1">
                <a:solidFill>
                  <a:srgbClr val="376996"/>
                </a:solidFill>
              </a:defRPr>
            </a:pPr>
            <a:r>
              <a:rPr sz="2550" b="1">
                <a:solidFill>
                  <a:srgbClr val="376996"/>
                </a:solidFill>
              </a:rPr>
              <a:t>1 yr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8D2F71-F652-431E-8D8F-C03510066E12}"/>
              </a:ext>
            </a:extLst>
          </p:cNvPr>
          <p:cNvSpPr>
            <a:spLocks noGrp="1"/>
          </p:cNvSpPr>
          <p:nvPr/>
        </p:nvSpPr>
        <p:spPr>
          <a:xfrm>
            <a:off x="7124700" y="5353050"/>
            <a:ext cx="1428750" cy="76200"/>
          </a:xfrm>
          <a:prstGeom prst="rect">
            <a:avLst/>
          </a:prstGeom>
          <a:solidFill>
            <a:srgbClr val="376996"/>
          </a:solidFill>
          <a:ln w="0">
            <a:solidFill>
              <a:srgbClr val="3769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63A0DE-9D6C-4DA6-8234-E7E36FBDF89E}"/>
              </a:ext>
            </a:extLst>
          </p:cNvPr>
          <p:cNvSpPr>
            <a:spLocks noGrp="1"/>
          </p:cNvSpPr>
          <p:nvPr/>
        </p:nvSpPr>
        <p:spPr>
          <a:xfrm>
            <a:off x="8286750" y="5219700"/>
            <a:ext cx="666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75" b="1">
                <a:solidFill>
                  <a:srgbClr val="D7E0D8"/>
                </a:solidFill>
              </a:defRPr>
            </a:pPr>
            <a:r>
              <a:rPr sz="1275" b="1">
                <a:solidFill>
                  <a:srgbClr val="D7E0D8"/>
                </a:solidFill>
              </a:rPr>
              <a:t>P(term)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EFBBD0-CBB1-4054-A952-28545BA20665}"/>
              </a:ext>
            </a:extLst>
          </p:cNvPr>
          <p:cNvSpPr>
            <a:spLocks noGrp="1"/>
          </p:cNvSpPr>
          <p:nvPr/>
        </p:nvSpPr>
        <p:spPr>
          <a:xfrm>
            <a:off x="5791200" y="5715000"/>
            <a:ext cx="3276600" cy="381000"/>
          </a:xfrm>
          <a:prstGeom prst="rect">
            <a:avLst/>
          </a:prstGeom>
          <a:solidFill>
            <a:srgbClr val="1F4A36"/>
          </a:solidFill>
          <a:ln>
            <a:solidFill>
              <a:srgbClr val="1F4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C22FA7-56D8-4742-8A81-A8EA5CB69EFF}"/>
              </a:ext>
            </a:extLst>
          </p:cNvPr>
          <p:cNvSpPr>
            <a:spLocks noGrp="1"/>
          </p:cNvSpPr>
          <p:nvPr/>
        </p:nvSpPr>
        <p:spPr>
          <a:xfrm>
            <a:off x="5962650" y="5791200"/>
            <a:ext cx="952500" cy="4000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550" b="1">
                <a:solidFill>
                  <a:srgbClr val="4C956C"/>
                </a:solidFill>
              </a:defRPr>
            </a:pPr>
            <a:r>
              <a:rPr sz="2550" b="1">
                <a:solidFill>
                  <a:srgbClr val="4C956C"/>
                </a:solidFill>
              </a:rPr>
              <a:t>2 yr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CEE2AF-1FAC-4DCD-A86B-3788A52CF012}"/>
              </a:ext>
            </a:extLst>
          </p:cNvPr>
          <p:cNvSpPr>
            <a:spLocks noGrp="1"/>
          </p:cNvSpPr>
          <p:nvPr/>
        </p:nvSpPr>
        <p:spPr>
          <a:xfrm>
            <a:off x="7124700" y="5943600"/>
            <a:ext cx="1428750" cy="76200"/>
          </a:xfrm>
          <a:prstGeom prst="rect">
            <a:avLst/>
          </a:prstGeom>
          <a:solidFill>
            <a:srgbClr val="4C956C"/>
          </a:solidFill>
          <a:ln w="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A43FA8-8D6C-4CC9-ABD6-CDC13F6ADD3F}"/>
              </a:ext>
            </a:extLst>
          </p:cNvPr>
          <p:cNvSpPr>
            <a:spLocks noGrp="1"/>
          </p:cNvSpPr>
          <p:nvPr/>
        </p:nvSpPr>
        <p:spPr>
          <a:xfrm>
            <a:off x="8286750" y="5829300"/>
            <a:ext cx="666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75" b="1">
                <a:solidFill>
                  <a:srgbClr val="D7E0D8"/>
                </a:solidFill>
              </a:defRPr>
            </a:pPr>
            <a:r>
              <a:rPr sz="1275" b="1">
                <a:solidFill>
                  <a:srgbClr val="D7E0D8"/>
                </a:solidFill>
              </a:rPr>
              <a:t>P(term)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E98D56-9772-4333-9E75-B7277DB3265E}"/>
              </a:ext>
            </a:extLst>
          </p:cNvPr>
          <p:cNvSpPr>
            <a:spLocks noGrp="1"/>
          </p:cNvSpPr>
          <p:nvPr/>
        </p:nvSpPr>
        <p:spPr>
          <a:xfrm>
            <a:off x="5791200" y="6324600"/>
            <a:ext cx="3276600" cy="381000"/>
          </a:xfrm>
          <a:prstGeom prst="rect">
            <a:avLst/>
          </a:prstGeom>
          <a:solidFill>
            <a:srgbClr val="1F4A36"/>
          </a:solidFill>
          <a:ln>
            <a:solidFill>
              <a:srgbClr val="1F4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DD9349-B4DF-4C7A-99F3-CB3D76B33BE3}"/>
              </a:ext>
            </a:extLst>
          </p:cNvPr>
          <p:cNvSpPr>
            <a:spLocks noGrp="1"/>
          </p:cNvSpPr>
          <p:nvPr/>
        </p:nvSpPr>
        <p:spPr>
          <a:xfrm>
            <a:off x="5962650" y="6381750"/>
            <a:ext cx="952500" cy="4000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550" b="1">
                <a:solidFill>
                  <a:srgbClr val="DDAF4A"/>
                </a:solidFill>
              </a:defRPr>
            </a:pPr>
            <a:r>
              <a:rPr sz="2550" b="1">
                <a:solidFill>
                  <a:srgbClr val="DDAF4A"/>
                </a:solidFill>
              </a:rPr>
              <a:t>3 yr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DE219C-52B6-477E-BBE1-2F02719D2105}"/>
              </a:ext>
            </a:extLst>
          </p:cNvPr>
          <p:cNvSpPr>
            <a:spLocks noGrp="1"/>
          </p:cNvSpPr>
          <p:nvPr/>
        </p:nvSpPr>
        <p:spPr>
          <a:xfrm>
            <a:off x="7124700" y="6553200"/>
            <a:ext cx="1428750" cy="76200"/>
          </a:xfrm>
          <a:prstGeom prst="rect">
            <a:avLst/>
          </a:prstGeom>
          <a:solidFill>
            <a:srgbClr val="DDAF4A"/>
          </a:solidFill>
          <a:ln w="0">
            <a:solidFill>
              <a:srgbClr val="DDA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8CBB9F-2594-489D-A502-EAA7F636A804}"/>
              </a:ext>
            </a:extLst>
          </p:cNvPr>
          <p:cNvSpPr>
            <a:spLocks noGrp="1"/>
          </p:cNvSpPr>
          <p:nvPr/>
        </p:nvSpPr>
        <p:spPr>
          <a:xfrm>
            <a:off x="8286750" y="6419850"/>
            <a:ext cx="666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75" b="1">
                <a:solidFill>
                  <a:srgbClr val="D7E0D8"/>
                </a:solidFill>
              </a:defRPr>
            </a:pPr>
            <a:r>
              <a:rPr sz="1275" b="1">
                <a:solidFill>
                  <a:srgbClr val="D7E0D8"/>
                </a:solidFill>
              </a:rPr>
              <a:t>P(term)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96C869-6C52-479C-A740-D0643B83E85E}"/>
              </a:ext>
            </a:extLst>
          </p:cNvPr>
          <p:cNvSpPr>
            <a:spLocks noGrp="1"/>
          </p:cNvSpPr>
          <p:nvPr/>
        </p:nvSpPr>
        <p:spPr>
          <a:xfrm>
            <a:off x="5791200" y="6934200"/>
            <a:ext cx="3276600" cy="381000"/>
          </a:xfrm>
          <a:prstGeom prst="rect">
            <a:avLst/>
          </a:prstGeom>
          <a:solidFill>
            <a:srgbClr val="1F4A36"/>
          </a:solidFill>
          <a:ln>
            <a:solidFill>
              <a:srgbClr val="1F4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CD2405-DE2D-4FF7-85B3-02DF8D837874}"/>
              </a:ext>
            </a:extLst>
          </p:cNvPr>
          <p:cNvSpPr>
            <a:spLocks noGrp="1"/>
          </p:cNvSpPr>
          <p:nvPr/>
        </p:nvSpPr>
        <p:spPr>
          <a:xfrm>
            <a:off x="5962650" y="6991350"/>
            <a:ext cx="952500" cy="4000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550" b="1">
                <a:solidFill>
                  <a:srgbClr val="C96E2E"/>
                </a:solidFill>
              </a:defRPr>
            </a:pPr>
            <a:r>
              <a:rPr sz="2550" b="1">
                <a:solidFill>
                  <a:srgbClr val="C96E2E"/>
                </a:solidFill>
              </a:rPr>
              <a:t>4 yr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E710F4-1223-43AD-A410-8043D494C944}"/>
              </a:ext>
            </a:extLst>
          </p:cNvPr>
          <p:cNvSpPr>
            <a:spLocks noGrp="1"/>
          </p:cNvSpPr>
          <p:nvPr/>
        </p:nvSpPr>
        <p:spPr>
          <a:xfrm>
            <a:off x="7124700" y="7143750"/>
            <a:ext cx="1428750" cy="76200"/>
          </a:xfrm>
          <a:prstGeom prst="rect">
            <a:avLst/>
          </a:prstGeom>
          <a:solidFill>
            <a:srgbClr val="C96E2E"/>
          </a:solidFill>
          <a:ln w="0">
            <a:solidFill>
              <a:srgbClr val="C96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700357-587D-461D-8A24-62896CC81523}"/>
              </a:ext>
            </a:extLst>
          </p:cNvPr>
          <p:cNvSpPr>
            <a:spLocks noGrp="1"/>
          </p:cNvSpPr>
          <p:nvPr/>
        </p:nvSpPr>
        <p:spPr>
          <a:xfrm>
            <a:off x="8286750" y="7029450"/>
            <a:ext cx="666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75" b="1">
                <a:solidFill>
                  <a:srgbClr val="D7E0D8"/>
                </a:solidFill>
              </a:defRPr>
            </a:pPr>
            <a:r>
              <a:rPr sz="1275" b="1">
                <a:solidFill>
                  <a:srgbClr val="D7E0D8"/>
                </a:solidFill>
              </a:rPr>
              <a:t>P(term)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41F096-BC6A-4899-AEE5-86F1F092042C}"/>
              </a:ext>
            </a:extLst>
          </p:cNvPr>
          <p:cNvSpPr>
            <a:spLocks noGrp="1"/>
          </p:cNvSpPr>
          <p:nvPr/>
        </p:nvSpPr>
        <p:spPr>
          <a:xfrm>
            <a:off x="5791200" y="7543800"/>
            <a:ext cx="3276600" cy="381000"/>
          </a:xfrm>
          <a:prstGeom prst="rect">
            <a:avLst/>
          </a:prstGeom>
          <a:solidFill>
            <a:srgbClr val="1F4A36"/>
          </a:solidFill>
          <a:ln>
            <a:solidFill>
              <a:srgbClr val="1F4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62C0A0-1DB8-4295-8B59-BB30A2D2876F}"/>
              </a:ext>
            </a:extLst>
          </p:cNvPr>
          <p:cNvSpPr>
            <a:spLocks noGrp="1"/>
          </p:cNvSpPr>
          <p:nvPr/>
        </p:nvSpPr>
        <p:spPr>
          <a:xfrm>
            <a:off x="5962650" y="7581900"/>
            <a:ext cx="952500" cy="4000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550" b="1">
                <a:solidFill>
                  <a:srgbClr val="B85C4E"/>
                </a:solidFill>
              </a:defRPr>
            </a:pPr>
            <a:r>
              <a:rPr sz="2550" b="1">
                <a:solidFill>
                  <a:srgbClr val="B85C4E"/>
                </a:solidFill>
              </a:rPr>
              <a:t>5+ yr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E2539F3-7D2E-4612-BC89-04F80F6FBE69}"/>
              </a:ext>
            </a:extLst>
          </p:cNvPr>
          <p:cNvSpPr>
            <a:spLocks noGrp="1"/>
          </p:cNvSpPr>
          <p:nvPr/>
        </p:nvSpPr>
        <p:spPr>
          <a:xfrm>
            <a:off x="7124700" y="7753350"/>
            <a:ext cx="1428750" cy="76200"/>
          </a:xfrm>
          <a:prstGeom prst="rect">
            <a:avLst/>
          </a:prstGeom>
          <a:solidFill>
            <a:srgbClr val="B85C4E"/>
          </a:solidFill>
          <a:ln w="0">
            <a:solidFill>
              <a:srgbClr val="B85C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7DDD4A-3D8F-4DBA-8ED6-117CBCE00229}"/>
              </a:ext>
            </a:extLst>
          </p:cNvPr>
          <p:cNvSpPr>
            <a:spLocks noGrp="1"/>
          </p:cNvSpPr>
          <p:nvPr/>
        </p:nvSpPr>
        <p:spPr>
          <a:xfrm>
            <a:off x="8286750" y="7620000"/>
            <a:ext cx="666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75" b="1">
                <a:solidFill>
                  <a:srgbClr val="D7E0D8"/>
                </a:solidFill>
              </a:defRPr>
            </a:pPr>
            <a:r>
              <a:rPr sz="1275" b="1">
                <a:solidFill>
                  <a:srgbClr val="D7E0D8"/>
                </a:solidFill>
              </a:rPr>
              <a:t>P(term)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B3C0A0-B39C-478D-A9BA-2D58D473C5E1}"/>
              </a:ext>
            </a:extLst>
          </p:cNvPr>
          <p:cNvSpPr>
            <a:spLocks noGrp="1"/>
          </p:cNvSpPr>
          <p:nvPr/>
        </p:nvSpPr>
        <p:spPr>
          <a:xfrm>
            <a:off x="9429750" y="5962650"/>
            <a:ext cx="666750" cy="1009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600" b="1">
                <a:solidFill>
                  <a:srgbClr val="DDAF4A"/>
                </a:solidFill>
              </a:defRPr>
            </a:pPr>
            <a:r>
              <a:rPr sz="6600" b="1">
                <a:solidFill>
                  <a:srgbClr val="DDAF4A"/>
                </a:solidFill>
              </a:rPr>
              <a:t>×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158B24-1990-4086-830F-247610DF8BFF}"/>
              </a:ext>
            </a:extLst>
          </p:cNvPr>
          <p:cNvSpPr>
            <a:spLocks noGrp="1"/>
          </p:cNvSpPr>
          <p:nvPr/>
        </p:nvSpPr>
        <p:spPr>
          <a:xfrm>
            <a:off x="10363200" y="3276600"/>
            <a:ext cx="3581400" cy="1676400"/>
          </a:xfrm>
          <a:prstGeom prst="rect">
            <a:avLst/>
          </a:prstGeom>
          <a:solidFill>
            <a:srgbClr val="194A35"/>
          </a:solidFill>
          <a:ln>
            <a:solidFill>
              <a:srgbClr val="194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E7CB04-04AD-4E0C-A590-8A8202D29261}"/>
              </a:ext>
            </a:extLst>
          </p:cNvPr>
          <p:cNvSpPr>
            <a:spLocks noGrp="1"/>
          </p:cNvSpPr>
          <p:nvPr/>
        </p:nvSpPr>
        <p:spPr>
          <a:xfrm>
            <a:off x="10629900" y="3486150"/>
            <a:ext cx="2952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DDAF4A"/>
                </a:solidFill>
              </a:defRPr>
            </a:pPr>
            <a:r>
              <a:rPr sz="1425" b="1">
                <a:solidFill>
                  <a:srgbClr val="DDAF4A"/>
                </a:solidFill>
              </a:rPr>
              <a:t>STEP 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B8D7EA3-1B60-4131-8465-648D479A8EAC}"/>
              </a:ext>
            </a:extLst>
          </p:cNvPr>
          <p:cNvSpPr>
            <a:spLocks noGrp="1"/>
          </p:cNvSpPr>
          <p:nvPr/>
        </p:nvSpPr>
        <p:spPr>
          <a:xfrm>
            <a:off x="10629900" y="3810000"/>
            <a:ext cx="2952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AAV% model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0058D8F-88F3-45D2-BAEC-988C9C63F0A4}"/>
              </a:ext>
            </a:extLst>
          </p:cNvPr>
          <p:cNvSpPr>
            <a:spLocks noGrp="1"/>
          </p:cNvSpPr>
          <p:nvPr/>
        </p:nvSpPr>
        <p:spPr>
          <a:xfrm>
            <a:off x="10629900" y="4286250"/>
            <a:ext cx="29527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D7E0D8"/>
                </a:solidFill>
              </a:defRPr>
            </a:pPr>
            <a:r>
              <a:rPr sz="1425">
                <a:solidFill>
                  <a:srgbClr val="D7E0D8"/>
                </a:solidFill>
              </a:rPr>
              <a:t>cap-share price conditional on supplied term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F09A519-BBE9-4293-A2C1-A32031DD6B98}"/>
              </a:ext>
            </a:extLst>
          </p:cNvPr>
          <p:cNvSpPr>
            <a:spLocks noGrp="1"/>
          </p:cNvSpPr>
          <p:nvPr/>
        </p:nvSpPr>
        <p:spPr>
          <a:xfrm>
            <a:off x="10439400" y="5181600"/>
            <a:ext cx="3429000" cy="381000"/>
          </a:xfrm>
          <a:prstGeom prst="rect">
            <a:avLst/>
          </a:prstGeom>
          <a:solidFill>
            <a:srgbClr val="24563E"/>
          </a:solidFill>
          <a:ln>
            <a:solidFill>
              <a:srgbClr val="245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D440737-7F6B-42B5-BA78-FEB45A9C64D2}"/>
              </a:ext>
            </a:extLst>
          </p:cNvPr>
          <p:cNvSpPr>
            <a:spLocks noGrp="1"/>
          </p:cNvSpPr>
          <p:nvPr/>
        </p:nvSpPr>
        <p:spPr>
          <a:xfrm>
            <a:off x="10725150" y="5219700"/>
            <a:ext cx="16192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AAV% | 1 yr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2F0BB6-41C7-493F-B3F6-9FA378C66CD1}"/>
              </a:ext>
            </a:extLst>
          </p:cNvPr>
          <p:cNvSpPr>
            <a:spLocks noGrp="1"/>
          </p:cNvSpPr>
          <p:nvPr/>
        </p:nvSpPr>
        <p:spPr>
          <a:xfrm>
            <a:off x="12534900" y="5353050"/>
            <a:ext cx="1000125" cy="66675"/>
          </a:xfrm>
          <a:prstGeom prst="rect">
            <a:avLst/>
          </a:prstGeom>
          <a:solidFill>
            <a:srgbClr val="376996"/>
          </a:solidFill>
          <a:ln w="0">
            <a:solidFill>
              <a:srgbClr val="3769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33E1E03-C5E6-4C6F-9263-D787B47F49D0}"/>
              </a:ext>
            </a:extLst>
          </p:cNvPr>
          <p:cNvSpPr>
            <a:spLocks noGrp="1"/>
          </p:cNvSpPr>
          <p:nvPr/>
        </p:nvSpPr>
        <p:spPr>
          <a:xfrm>
            <a:off x="10439400" y="5715000"/>
            <a:ext cx="3429000" cy="381000"/>
          </a:xfrm>
          <a:prstGeom prst="rect">
            <a:avLst/>
          </a:prstGeom>
          <a:solidFill>
            <a:srgbClr val="24563E"/>
          </a:solidFill>
          <a:ln>
            <a:solidFill>
              <a:srgbClr val="245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DBFF2E-5703-4B1B-8599-95006EF9A9AC}"/>
              </a:ext>
            </a:extLst>
          </p:cNvPr>
          <p:cNvSpPr>
            <a:spLocks noGrp="1"/>
          </p:cNvSpPr>
          <p:nvPr/>
        </p:nvSpPr>
        <p:spPr>
          <a:xfrm>
            <a:off x="10725150" y="5829300"/>
            <a:ext cx="16192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AAV% | 2 yr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26C4C89-84DE-4304-8BA5-94E49D5EB327}"/>
              </a:ext>
            </a:extLst>
          </p:cNvPr>
          <p:cNvSpPr>
            <a:spLocks noGrp="1"/>
          </p:cNvSpPr>
          <p:nvPr/>
        </p:nvSpPr>
        <p:spPr>
          <a:xfrm>
            <a:off x="12534900" y="5943600"/>
            <a:ext cx="1000125" cy="66675"/>
          </a:xfrm>
          <a:prstGeom prst="rect">
            <a:avLst/>
          </a:prstGeom>
          <a:solidFill>
            <a:srgbClr val="4C956C"/>
          </a:solidFill>
          <a:ln w="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80B41C-D3D1-4B77-AB5C-409A0EFEE144}"/>
              </a:ext>
            </a:extLst>
          </p:cNvPr>
          <p:cNvSpPr>
            <a:spLocks noGrp="1"/>
          </p:cNvSpPr>
          <p:nvPr/>
        </p:nvSpPr>
        <p:spPr>
          <a:xfrm>
            <a:off x="10439400" y="6324600"/>
            <a:ext cx="3429000" cy="381000"/>
          </a:xfrm>
          <a:prstGeom prst="rect">
            <a:avLst/>
          </a:prstGeom>
          <a:solidFill>
            <a:srgbClr val="24563E"/>
          </a:solidFill>
          <a:ln>
            <a:solidFill>
              <a:srgbClr val="245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6DF4539-6ED4-4454-9832-E56B11D0B55C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16192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AAV% | 3 yr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D365CC-B4DB-4C69-862E-02FCC387645E}"/>
              </a:ext>
            </a:extLst>
          </p:cNvPr>
          <p:cNvSpPr>
            <a:spLocks noGrp="1"/>
          </p:cNvSpPr>
          <p:nvPr/>
        </p:nvSpPr>
        <p:spPr>
          <a:xfrm>
            <a:off x="12534900" y="6553200"/>
            <a:ext cx="1000125" cy="66675"/>
          </a:xfrm>
          <a:prstGeom prst="rect">
            <a:avLst/>
          </a:prstGeom>
          <a:solidFill>
            <a:srgbClr val="DDAF4A"/>
          </a:solidFill>
          <a:ln w="0">
            <a:solidFill>
              <a:srgbClr val="DDA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E59F6AB-FFBA-4CE7-8B15-BADAED9B3E9C}"/>
              </a:ext>
            </a:extLst>
          </p:cNvPr>
          <p:cNvSpPr>
            <a:spLocks noGrp="1"/>
          </p:cNvSpPr>
          <p:nvPr/>
        </p:nvSpPr>
        <p:spPr>
          <a:xfrm>
            <a:off x="10439400" y="6934200"/>
            <a:ext cx="3429000" cy="381000"/>
          </a:xfrm>
          <a:prstGeom prst="rect">
            <a:avLst/>
          </a:prstGeom>
          <a:solidFill>
            <a:srgbClr val="24563E"/>
          </a:solidFill>
          <a:ln>
            <a:solidFill>
              <a:srgbClr val="245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6756B59-0183-4583-A7C8-B2C1680F5097}"/>
              </a:ext>
            </a:extLst>
          </p:cNvPr>
          <p:cNvSpPr>
            <a:spLocks noGrp="1"/>
          </p:cNvSpPr>
          <p:nvPr/>
        </p:nvSpPr>
        <p:spPr>
          <a:xfrm>
            <a:off x="10725150" y="7029450"/>
            <a:ext cx="16192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AAV% | 4 yr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5DB465B-CC1A-4514-AC58-A0A657A2231B}"/>
              </a:ext>
            </a:extLst>
          </p:cNvPr>
          <p:cNvSpPr>
            <a:spLocks noGrp="1"/>
          </p:cNvSpPr>
          <p:nvPr/>
        </p:nvSpPr>
        <p:spPr>
          <a:xfrm>
            <a:off x="12534900" y="7143750"/>
            <a:ext cx="1000125" cy="66675"/>
          </a:xfrm>
          <a:prstGeom prst="rect">
            <a:avLst/>
          </a:prstGeom>
          <a:solidFill>
            <a:srgbClr val="C96E2E"/>
          </a:solidFill>
          <a:ln w="0">
            <a:solidFill>
              <a:srgbClr val="C96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629C93E-31D9-4959-AA7B-59693DB2B79A}"/>
              </a:ext>
            </a:extLst>
          </p:cNvPr>
          <p:cNvSpPr>
            <a:spLocks noGrp="1"/>
          </p:cNvSpPr>
          <p:nvPr/>
        </p:nvSpPr>
        <p:spPr>
          <a:xfrm>
            <a:off x="10439400" y="7543800"/>
            <a:ext cx="3429000" cy="381000"/>
          </a:xfrm>
          <a:prstGeom prst="rect">
            <a:avLst/>
          </a:prstGeom>
          <a:solidFill>
            <a:srgbClr val="24563E"/>
          </a:solidFill>
          <a:ln>
            <a:solidFill>
              <a:srgbClr val="245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69EDA75-A26C-483B-A06B-F2780657FB94}"/>
              </a:ext>
            </a:extLst>
          </p:cNvPr>
          <p:cNvSpPr>
            <a:spLocks noGrp="1"/>
          </p:cNvSpPr>
          <p:nvPr/>
        </p:nvSpPr>
        <p:spPr>
          <a:xfrm>
            <a:off x="10725150" y="7620000"/>
            <a:ext cx="16192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AAV% | 5+ yr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A0223F0-2232-49BA-A7A2-6E09802CDECB}"/>
              </a:ext>
            </a:extLst>
          </p:cNvPr>
          <p:cNvSpPr>
            <a:spLocks noGrp="1"/>
          </p:cNvSpPr>
          <p:nvPr/>
        </p:nvSpPr>
        <p:spPr>
          <a:xfrm>
            <a:off x="12534900" y="7753350"/>
            <a:ext cx="1000125" cy="66675"/>
          </a:xfrm>
          <a:prstGeom prst="rect">
            <a:avLst/>
          </a:prstGeom>
          <a:solidFill>
            <a:srgbClr val="B85C4E"/>
          </a:solidFill>
          <a:ln w="0">
            <a:solidFill>
              <a:srgbClr val="B85C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40E1B5F-B9E7-4C86-BDD7-520F2F1B434C}"/>
              </a:ext>
            </a:extLst>
          </p:cNvPr>
          <p:cNvSpPr>
            <a:spLocks noGrp="1"/>
          </p:cNvSpPr>
          <p:nvPr/>
        </p:nvSpPr>
        <p:spPr>
          <a:xfrm>
            <a:off x="14249400" y="5143500"/>
            <a:ext cx="666750" cy="990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450" b="1">
                <a:solidFill>
                  <a:srgbClr val="DDAF4A"/>
                </a:solidFill>
              </a:defRPr>
            </a:pPr>
            <a:r>
              <a:rPr sz="6450" b="1">
                <a:solidFill>
                  <a:srgbClr val="DDAF4A"/>
                </a:solidFill>
              </a:rPr>
              <a:t>→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07D7D6E-592F-40B8-85AB-CA25500A19B4}"/>
              </a:ext>
            </a:extLst>
          </p:cNvPr>
          <p:cNvSpPr>
            <a:spLocks noGrp="1"/>
          </p:cNvSpPr>
          <p:nvPr/>
        </p:nvSpPr>
        <p:spPr>
          <a:xfrm>
            <a:off x="15163800" y="4114800"/>
            <a:ext cx="2362200" cy="3124200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D255A21-095B-4D80-9FEE-8221E1EDCE57}"/>
              </a:ext>
            </a:extLst>
          </p:cNvPr>
          <p:cNvSpPr>
            <a:spLocks noGrp="1"/>
          </p:cNvSpPr>
          <p:nvPr/>
        </p:nvSpPr>
        <p:spPr>
          <a:xfrm>
            <a:off x="15430500" y="4724400"/>
            <a:ext cx="1809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C96E2E"/>
                </a:solidFill>
              </a:defRPr>
            </a:pPr>
            <a:r>
              <a:rPr sz="1425" b="1">
                <a:solidFill>
                  <a:srgbClr val="C96E2E"/>
                </a:solidFill>
              </a:rPr>
              <a:t>OUTPUT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9005ED9-4F76-4F51-B532-EBB33882189A}"/>
              </a:ext>
            </a:extLst>
          </p:cNvPr>
          <p:cNvSpPr>
            <a:spLocks noGrp="1"/>
          </p:cNvSpPr>
          <p:nvPr/>
        </p:nvSpPr>
        <p:spPr>
          <a:xfrm>
            <a:off x="15430500" y="5105400"/>
            <a:ext cx="180975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13201D"/>
                </a:solidFill>
              </a:defRPr>
            </a:pPr>
            <a:r>
              <a:rPr sz="2400" b="1">
                <a:solidFill>
                  <a:srgbClr val="13201D"/>
                </a:solidFill>
              </a:rPr>
              <a:t>Contract menu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E67AD2A-CC3E-482A-A37F-2159277E75A6}"/>
              </a:ext>
            </a:extLst>
          </p:cNvPr>
          <p:cNvSpPr>
            <a:spLocks noGrp="1"/>
          </p:cNvSpPr>
          <p:nvPr/>
        </p:nvSpPr>
        <p:spPr>
          <a:xfrm>
            <a:off x="15430500" y="6057900"/>
            <a:ext cx="1676400" cy="876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3201D"/>
                </a:solidFill>
              </a:defRPr>
            </a:pPr>
            <a:r>
              <a:rPr sz="1425">
                <a:solidFill>
                  <a:srgbClr val="13201D"/>
                </a:solidFill>
              </a:rPr>
              <a:t>term probabilities</a:t>
            </a:r>
          </a:p>
          <a:p>
            <a:pPr>
              <a:defRPr sz="1425">
                <a:solidFill>
                  <a:srgbClr val="13201D"/>
                </a:solidFill>
              </a:defRPr>
            </a:pPr>
            <a:r>
              <a:rPr sz="1425">
                <a:solidFill>
                  <a:srgbClr val="13201D"/>
                </a:solidFill>
              </a:rPr>
              <a:t>scenario AAV paths</a:t>
            </a:r>
          </a:p>
          <a:p>
            <a:pPr>
              <a:defRPr sz="1425">
                <a:solidFill>
                  <a:srgbClr val="13201D"/>
                </a:solidFill>
              </a:defRPr>
            </a:pPr>
            <a:r>
              <a:rPr sz="1425">
                <a:solidFill>
                  <a:srgbClr val="13201D"/>
                </a:solidFill>
              </a:rPr>
              <a:t>weighted expected value</a:t>
            </a:r>
          </a:p>
        </p:txBody>
      </p:sp>
    </p:spTree>
    <p:extLst>
      <p:ext uri="{BB962C8B-B14F-4D97-AF65-F5344CB8AC3E}">
        <p14:creationId xmlns:p14="http://schemas.microsoft.com/office/powerpoint/2010/main" val="1637031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761</Words>
  <Application>Microsoft Macintosh PowerPoint</Application>
  <DocSecurity>0</DocSecurity>
  <PresentationFormat>Custom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Rento Saijo</cp:lastModifiedBy>
  <cp:revision>1</cp:revision>
  <dcterms:created xsi:type="dcterms:W3CDTF">2026-04-30T19:57:08Z</dcterms:created>
  <dcterms:modified xsi:type="dcterms:W3CDTF">2026-04-30T20:04:54Z</dcterms:modified>
</cp:coreProperties>
</file>